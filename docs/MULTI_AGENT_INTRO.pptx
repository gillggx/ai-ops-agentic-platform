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40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4577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PingFang TC"/>
              </a:rPr>
              <a:t>AIOps Multi-Agent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383280"/>
            <a:ext cx="105457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FD9CC"/>
                </a:solidFill>
                <a:latin typeface="PingFang TC"/>
              </a:rPr>
              <a:t>從單一 LLM 到多代理協作 — 架構、品質防線與本週交付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760720"/>
            <a:ext cx="105457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FB3A2"/>
                </a:solidFill>
                <a:latin typeface="PingFang TC"/>
              </a:rPr>
              <a:t>2026-07-13 ・ Multi-Agent Phase 0（07-02）起 ・ 繁體中文版 v1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D29"/>
                </a:solidFill>
                <a:latin typeface="PingFang TC"/>
              </a:rPr>
              <a:t>目錄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110029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A1D29"/>
                </a:solidFill>
                <a:latin typeface="PingFang TC"/>
              </a:rPr>
              <a:t>▸ 1. 演進脈絡與設計哲學（p3-6）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A1D29"/>
                </a:solidFill>
                <a:latin typeface="PingFang TC"/>
              </a:rPr>
              <a:t>▸ 2. 四個代理：Coordinator / Planner / Builder / Supervisor（p7-15）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A1D29"/>
                </a:solidFill>
                <a:latin typeface="PingFang TC"/>
              </a:rPr>
              <a:t>▸ 3. 品質防線：讓 agent 看得到自己的成品（p16-20）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A1D29"/>
                </a:solidFill>
                <a:latin typeface="PingFang TC"/>
              </a:rPr>
              <a:t>▸ 4. 學習閉環、觀測性與成本（p21-24）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A1D29"/>
                </a:solidFill>
                <a:latin typeface="PingFang TC"/>
              </a:rPr>
              <a:t>▸ 5. 使用者體驗：ChatOps 改版・手機版・主題・多語系（p25-30）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A1D29"/>
                </a:solidFill>
                <a:latin typeface="PingFang TC"/>
              </a:rPr>
              <a:t>▸ 6. 積木平台：58 blocks・新積木・修正與表單化（p31-36）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A1D29"/>
                </a:solidFill>
                <a:latin typeface="PingFang TC"/>
              </a:rPr>
              <a:t>▸ 7. 測試、安全與 Roadmap（p37-40）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070"/>
                </a:solidFill>
                <a:latin typeface="PingFang TC"/>
              </a:rPr>
              <a:t>AIOps Multi-Agent Platform ・ 目錄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070"/>
                </a:solidFill>
                <a:latin typeface="PingFang T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5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9CDBC"/>
                </a:solidFill>
                <a:latin typeface="PingFang TC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56032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PingFang TC"/>
              </a:rPr>
              <a:t>演進脈絡與設計哲學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40480"/>
            <a:ext cx="1054577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D8E8E0"/>
                </a:solidFill>
                <a:latin typeface="PingFang TC"/>
              </a:rPr>
              <a:t>・ 為什麼從 classifier 走到 multi-agent</a:t>
            </a:r>
          </a:p>
          <a:p>
            <a:pPr algn="l"/>
            <a:r>
              <a:rPr sz="1500" b="0">
                <a:solidFill>
                  <a:srgbClr val="D8E8E0"/>
                </a:solidFill>
                <a:latin typeface="PingFang TC"/>
              </a:rPr>
              <a:t>・ 核心鐵律：流程在 graph，LLM 只做窄任務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070"/>
                </a:solidFill>
                <a:latin typeface="PingFang TC"/>
              </a:rPr>
              <a:t>AIOps Multi-Agent Platform ・ 演進脈絡與設計哲學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070"/>
                </a:solidFill>
                <a:latin typeface="PingFang T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07A1E"/>
                </a:solidFill>
                <a:latin typeface="PingFang TC"/>
              </a:rPr>
              <a:t>PART 1 ・ 演進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D29"/>
                </a:solidFill>
                <a:latin typeface="PingFang TC"/>
              </a:rPr>
              <a:t>演進脈絡：三個時代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10029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A1D29"/>
                </a:solidFill>
                <a:latin typeface="PingFang TC"/>
              </a:rPr>
              <a:t>▸ Classifier 時代（~2026-06）：一個 LLM 分類意圖 → 硬路由</a:t>
            </a:r>
          </a:p>
          <a:p>
            <a:pPr algn="l">
              <a:spcAft>
                <a:spcPts val="400"/>
              </a:spcAft>
            </a:pPr>
            <a:r>
              <a:rPr sz="1350" b="0">
                <a:solidFill>
                  <a:srgbClr val="5B6070"/>
                </a:solidFill>
                <a:latin typeface="PingFang TC"/>
              </a:rPr>
              <a:t>　　問題：不會聊天、意圖判錯就整條走偏、prompt 規則越堆越多互相打架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A1D29"/>
                </a:solidFill>
                <a:latin typeface="PingFang TC"/>
              </a:rPr>
              <a:t>▸ Multi-Agent Phase 0（2026-07-02）：Planner / Builder 拆角色 + registry 委派</a:t>
            </a:r>
          </a:p>
          <a:p>
            <a:pPr algn="l">
              <a:spcAft>
                <a:spcPts val="400"/>
              </a:spcAft>
            </a:pPr>
            <a:r>
              <a:rPr sz="1350" b="0">
                <a:solidFill>
                  <a:srgbClr val="5B6070"/>
                </a:solidFill>
                <a:latin typeface="PingFang TC"/>
              </a:rPr>
              <a:t>　　SLASH-17 基準 17/17 全過、prompt cache 54.7%、零回歸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A1D29"/>
                </a:solidFill>
                <a:latin typeface="PingFang TC"/>
              </a:rPr>
              <a:t>▸ Coordinator 時代（2026-07-09 起）：對話為主的 tool-use loop 取代分類器</a:t>
            </a:r>
          </a:p>
          <a:p>
            <a:pPr algn="l">
              <a:spcAft>
                <a:spcPts val="400"/>
              </a:spcAft>
            </a:pPr>
            <a:r>
              <a:rPr sz="1350" b="0">
                <a:solidFill>
                  <a:srgbClr val="5B6070"/>
                </a:solidFill>
                <a:latin typeface="PingFang TC"/>
              </a:rPr>
              <a:t>　　像同事一樣對話，需要時才呼叫工具；分類器降為 fallback</a:t>
            </a:r>
          </a:p>
          <a:p>
            <a:pPr algn="l">
              <a:spcAft>
                <a:spcPts val="400"/>
              </a:spcAft>
            </a:pPr>
            <a:r>
              <a:rPr sz="1350" b="0">
                <a:solidFill>
                  <a:srgbClr val="5B6070"/>
                </a:solidFill>
                <a:latin typeface="PingFang TC"/>
              </a:rPr>
              <a:t>　　本週：記憶、貼圖、成品目檢 — agent 開始「記得你、看得到結果」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070"/>
                </a:solidFill>
                <a:latin typeface="PingFang TC"/>
              </a:rPr>
              <a:t>AIOps Multi-Agent Platform ・ 演進脈絡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070"/>
                </a:solidFill>
                <a:latin typeface="PingFang T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07A1E"/>
                </a:solidFill>
                <a:latin typeface="PingFang TC"/>
              </a:rPr>
              <a:t>PART 1 ・ 哲學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D29"/>
                </a:solidFill>
                <a:latin typeface="PingFang TC"/>
              </a:rPr>
              <a:t>設計哲學：流程在 graph，LLM 只做窄任務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10029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A1D29"/>
                </a:solidFill>
                <a:latin typeface="PingFang TC"/>
              </a:rPr>
              <a:t>▸ 鐵律：任何「下一步該做什麼」的決策不放 system prompt</a:t>
            </a:r>
          </a:p>
          <a:p>
            <a:pPr algn="l">
              <a:spcAft>
                <a:spcPts val="400"/>
              </a:spcAft>
            </a:pPr>
            <a:r>
              <a:rPr sz="1350" b="0">
                <a:solidFill>
                  <a:srgbClr val="5B6070"/>
                </a:solidFill>
                <a:latin typeface="PingFang TC"/>
              </a:rPr>
              <a:t>　　LLM 會違抗 prompt 規則（多次實證）；graph node 是純函式、可單測、出錯知道在哪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A1D29"/>
                </a:solidFill>
                <a:latin typeface="PingFang TC"/>
              </a:rPr>
              <a:t>▸ LLM 負責的窄任務：規劃（goal_plan）、選積木、填參數、寫摘要、判讀成品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A1D29"/>
                </a:solidFill>
                <a:latin typeface="PingFang TC"/>
              </a:rPr>
              <a:t>▸ Deterministic 負責的事：路由、驗證、剪枝、重試上限、授權、確認閘門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A1D29"/>
                </a:solidFill>
                <a:latin typeface="PingFang TC"/>
              </a:rPr>
              <a:t>▸ 反例（我們踩過）：把 case 規則塞 prompt — 換個說法就繞過，永遠修不完</a:t>
            </a:r>
          </a:p>
          <a:p>
            <a:pPr algn="l">
              <a:spcAft>
                <a:spcPts val="400"/>
              </a:spcAft>
            </a:pPr>
            <a:r>
              <a:rPr sz="1350" b="0">
                <a:solidFill>
                  <a:srgbClr val="5B6070"/>
                </a:solidFill>
                <a:latin typeface="PingFang TC"/>
              </a:rPr>
              <a:t>　　正解：抽象成原則進文件、或落 graph node 做確定性檢查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070"/>
                </a:solidFill>
                <a:latin typeface="PingFang TC"/>
              </a:rPr>
              <a:t>AIOps Multi-Agent Platform ・ 設計哲學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070"/>
                </a:solidFill>
                <a:latin typeface="PingFang T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07A1E"/>
                </a:solidFill>
                <a:latin typeface="PingFang TC"/>
              </a:rPr>
              <a:t>PART 1 ・ 成本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D29"/>
                </a:solidFill>
                <a:latin typeface="PingFang TC"/>
              </a:rPr>
              <a:t>模型與成本結構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11094414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249"/>
                <a:gridCol w="3413666"/>
                <a:gridCol w="5120499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TC"/>
                        </a:rPr>
                        <a:t>角色</a:t>
                      </a:r>
                    </a:p>
                  </a:txBody>
                  <a:tcPr>
                    <a:solidFill>
                      <a:srgbClr val="1E5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TC"/>
                        </a:rPr>
                        <a:t>模型</a:t>
                      </a:r>
                    </a:p>
                  </a:txBody>
                  <a:tcPr>
                    <a:solidFill>
                      <a:srgbClr val="1E5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TC"/>
                        </a:rPr>
                        <a:t>為什麼</a:t>
                      </a:r>
                    </a:p>
                  </a:txBody>
                  <a:tcPr>
                    <a:solidFill>
                      <a:srgbClr val="1E5A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D29"/>
                          </a:solidFill>
                          <a:latin typeface="PingFang TC"/>
                        </a:rPr>
                        <a:t>Coordinator（對話）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D29"/>
                          </a:solidFill>
                          <a:latin typeface="PingFang TC"/>
                        </a:rPr>
                        <a:t>Haiku 4.5（Anthropic 直連）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D29"/>
                          </a:solidFill>
                          <a:latin typeface="PingFang TC"/>
                        </a:rPr>
                        <a:t>低延遲低成本；vision 能力（貼圖/成品目檢共用）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D29"/>
                          </a:solidFill>
                          <a:latin typeface="PingFang TC"/>
                        </a:rPr>
                        <a:t>Planner / Builder</a:t>
                      </a:r>
                    </a:p>
                  </a:txBody>
                  <a:tcPr>
                    <a:solidFill>
                      <a:srgbClr val="F0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D29"/>
                          </a:solidFill>
                          <a:latin typeface="PingFang TC"/>
                        </a:rPr>
                        <a:t>Haiku 4.5 預設；卡關升級 Sonnet 5 (effort high)</a:t>
                      </a:r>
                    </a:p>
                  </a:txBody>
                  <a:tcPr>
                    <a:solidFill>
                      <a:srgbClr val="F0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D29"/>
                          </a:solidFill>
                          <a:latin typeface="PingFang TC"/>
                        </a:rPr>
                        <a:t>GLM 曾為預設（空回應風暴 23% 後降級）</a:t>
                      </a:r>
                    </a:p>
                  </a:txBody>
                  <a:tcPr>
                    <a:solidFill>
                      <a:srgbClr val="F0EFE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D29"/>
                          </a:solidFill>
                          <a:latin typeface="PingFang TC"/>
                        </a:rPr>
                        <a:t>成品目檢 Judge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D29"/>
                          </a:solidFill>
                          <a:latin typeface="PingFang TC"/>
                        </a:rPr>
                        <a:t>Haiku 4.5 vision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D29"/>
                          </a:solidFill>
                          <a:latin typeface="PingFang TC"/>
                        </a:rPr>
                        <a:t>每次 build 只看一次，~2K tokens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D29"/>
                          </a:solidFill>
                          <a:latin typeface="PingFang TC"/>
                        </a:rPr>
                        <a:t>Supervisor 策展</a:t>
                      </a:r>
                    </a:p>
                  </a:txBody>
                  <a:tcPr>
                    <a:solidFill>
                      <a:srgbClr val="F0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D29"/>
                          </a:solidFill>
                          <a:latin typeface="PingFang TC"/>
                        </a:rPr>
                        <a:t>批次離線</a:t>
                      </a:r>
                    </a:p>
                  </a:txBody>
                  <a:tcPr>
                    <a:solidFill>
                      <a:srgbClr val="F0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D29"/>
                          </a:solidFill>
                          <a:latin typeface="PingFang TC"/>
                        </a:rPr>
                        <a:t>不在互動路徑上</a:t>
                      </a:r>
                    </a:p>
                  </a:txBody>
                  <a:tcPr>
                    <a:solidFill>
                      <a:srgbClr val="F0EFE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6144768"/>
            <a:ext cx="11002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07A1E"/>
                </a:solidFill>
                <a:latin typeface="PingFang TC"/>
              </a:rPr>
              <a:t>成本文化：改動前先報成本、prompt cache 優先、全量測試只在里程碑燒（分級閘門）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070"/>
                </a:solidFill>
                <a:latin typeface="PingFang TC"/>
              </a:rPr>
              <a:t>AIOps Multi-Agent Platform ・ 成本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070"/>
                </a:solidFill>
                <a:latin typeface="PingFang T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5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9CDBC"/>
                </a:solidFill>
                <a:latin typeface="PingFang TC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56032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PingFang TC"/>
              </a:rPr>
              <a:t>四個代理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40480"/>
            <a:ext cx="1054577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D8E8E0"/>
                </a:solidFill>
                <a:latin typeface="PingFang TC"/>
              </a:rPr>
              <a:t>・ Coordinator：對話與調度</a:t>
            </a:r>
          </a:p>
          <a:p>
            <a:pPr algn="l"/>
            <a:r>
              <a:rPr sz="1500" b="0">
                <a:solidFill>
                  <a:srgbClr val="D8E8E0"/>
                </a:solidFill>
                <a:latin typeface="PingFang TC"/>
              </a:rPr>
              <a:t>・ Planner：把需求變計畫</a:t>
            </a:r>
          </a:p>
          <a:p>
            <a:pPr algn="l"/>
            <a:r>
              <a:rPr sz="1500" b="0">
                <a:solidFill>
                  <a:srgbClr val="D8E8E0"/>
                </a:solidFill>
                <a:latin typeface="PingFang TC"/>
              </a:rPr>
              <a:t>・ Builder：把計畫變 pipeline</a:t>
            </a:r>
          </a:p>
          <a:p>
            <a:pPr algn="l"/>
            <a:r>
              <a:rPr sz="1500" b="0">
                <a:solidFill>
                  <a:srgbClr val="D8E8E0"/>
                </a:solidFill>
                <a:latin typeface="PingFang TC"/>
              </a:rPr>
              <a:t>・ Supervisor：策展與治理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070"/>
                </a:solidFill>
                <a:latin typeface="PingFang TC"/>
              </a:rPr>
              <a:t>AIOps Multi-Agent Platform ・ 四個代理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070"/>
                </a:solidFill>
                <a:latin typeface="PingFang T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07A1E"/>
                </a:solidFill>
                <a:latin typeface="PingFang TC"/>
              </a:rPr>
              <a:t>PART 2 ・ 總覽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D29"/>
                </a:solidFill>
                <a:latin typeface="PingFang TC"/>
              </a:rPr>
              <a:t>代理總覽與分工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10029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A1D29"/>
                </a:solidFill>
                <a:latin typeface="PingFang TC"/>
              </a:rPr>
              <a:t>▸ Coordinator — 前台：對話、查詢、調度重活、所有寫入的守門人</a:t>
            </a:r>
          </a:p>
          <a:p>
            <a:pPr algn="l">
              <a:spcAft>
                <a:spcPts val="400"/>
              </a:spcAft>
            </a:pPr>
            <a:r>
              <a:rPr sz="1350" b="0">
                <a:solidFill>
                  <a:srgbClr val="5B6070"/>
                </a:solidFill>
                <a:latin typeface="PingFang TC"/>
              </a:rPr>
              <a:t>　　python_ai_sidecar/agents/{coordinator, planner, builder, supervisor} 是唯一公開介面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A1D29"/>
                </a:solidFill>
                <a:latin typeface="PingFang TC"/>
              </a:rPr>
              <a:t>▸ Planner — 把自然語言變成可確認的 phase 計畫（goal_plan）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A1D29"/>
                </a:solidFill>
                <a:latin typeface="PingFang TC"/>
              </a:rPr>
              <a:t>▸ Builder — Glass Box：逐積木建構，每輪被 verifier 盯（含內部修復機制）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A1D29"/>
                </a:solidFill>
                <a:latin typeface="PingFang TC"/>
              </a:rPr>
              <a:t>▸ Supervisor — 離線策展：知識 PRUNE/PROMOTE/MERGE 提案、成本/發散報告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A1D29"/>
                </a:solidFill>
                <a:latin typeface="PingFang TC"/>
              </a:rPr>
              <a:t>▸ 註：早期獨立的 Repair agent 已收斂為 Builder 內部修復迴路（不再是公開角色）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070"/>
                </a:solidFill>
                <a:latin typeface="PingFang TC"/>
              </a:rPr>
              <a:t>AIOps Multi-Agent Platform ・ 代理總覽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070"/>
                </a:solidFill>
                <a:latin typeface="PingFang T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07A1E"/>
                </a:solidFill>
                <a:latin typeface="PingFang TC"/>
              </a:rPr>
              <a:t>PART 2 ・ Coordinator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D29"/>
                </a:solidFill>
                <a:latin typeface="PingFang TC"/>
              </a:rPr>
              <a:t>Coordinator：對話為主的 tool-use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10029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A1D29"/>
                </a:solidFill>
                <a:latin typeface="PingFang TC"/>
              </a:rPr>
              <a:t>▸ 一個 Anthropic tool-use loop：看完整對話 + 人設 + 工具描述，每步自行決定回話或呼叫工具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A1D29"/>
                </a:solidFill>
                <a:latin typeface="PingFang TC"/>
              </a:rPr>
              <a:t>▸ 能力面 = granted builtin 工具 + 授權的 System MCP + invoke_skill（Domain Skill）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A1D29"/>
                </a:solidFill>
                <a:latin typeface="PingFang TC"/>
              </a:rPr>
              <a:t>▸ 「怎麼做事」的知識放標準 Skill 說明書（DB 可編輯），不寫死在 prompt</a:t>
            </a:r>
          </a:p>
          <a:p>
            <a:pPr algn="l">
              <a:spcAft>
                <a:spcPts val="400"/>
              </a:spcAft>
            </a:pPr>
            <a:r>
              <a:rPr sz="1350" b="0">
                <a:solidFill>
                  <a:srgbClr val="5B6070"/>
                </a:solidFill>
                <a:latin typeface="PingFang TC"/>
              </a:rPr>
              <a:t>　　prompt 只留人設 + 少數硬規則（路由、禁簡體、就數據說話）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A1D29"/>
                </a:solidFill>
                <a:latin typeface="PingFang TC"/>
              </a:rPr>
              <a:t>▸ 硬規則之一：就數據說話 — 判定必須引用依據（spc_status、管制限、歷史）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070"/>
                </a:solidFill>
                <a:latin typeface="PingFang TC"/>
              </a:rPr>
              <a:t>AIOps Multi-Agent Platform ・ Coordinator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070"/>
                </a:solidFill>
                <a:latin typeface="PingFang T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07A1E"/>
                </a:solidFill>
                <a:latin typeface="PingFang TC"/>
              </a:rPr>
              <a:t>PART 2 ・ 安全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D29"/>
                </a:solidFill>
                <a:latin typeface="PingFang TC"/>
              </a:rPr>
              <a:t>安全模型：所有寫入走確認卡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10029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A1D29"/>
                </a:solidFill>
                <a:latin typeface="PingFang TC"/>
              </a:rPr>
              <a:t>▸ Agent 永遠不直接執行寫入 — 它「出卡」，你按確認，瀏覽器用你的 JWT 執行</a:t>
            </a:r>
          </a:p>
          <a:p>
            <a:pPr algn="l">
              <a:spcAft>
                <a:spcPts val="400"/>
              </a:spcAft>
            </a:pPr>
            <a:r>
              <a:rPr sz="1350" b="0">
                <a:solidFill>
                  <a:srgbClr val="5B6070"/>
                </a:solidFill>
                <a:latin typeface="PingFang TC"/>
              </a:rPr>
              <a:t>　　alarm 處置卡 / skill 啟用卡 / 知識管理卡 / 記憶卡 / 自動化交接卡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A1D29"/>
                </a:solidFill>
                <a:latin typeface="PingFang TC"/>
              </a:rPr>
              <a:t>▸ 角色閘門在 code 強制（不是 prompt 勸說）：resolve=ADMIN/PE、審核=IT_ADMIN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A1D29"/>
                </a:solidFill>
                <a:latin typeface="PingFang TC"/>
              </a:rPr>
              <a:t>▸ 能力授權：IT admin 在 registry 決定 Coordinator 拿得到哪些工具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A1D29"/>
                </a:solidFill>
                <a:latin typeface="PingFang TC"/>
              </a:rPr>
              <a:t>▸ 工具結果 30K 字元硬上限 — 防單一查詢炸掉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070"/>
                </a:solidFill>
                <a:latin typeface="PingFang TC"/>
              </a:rPr>
              <a:t>AIOps Multi-Agent Platform ・ 安全模型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070"/>
                </a:solidFill>
                <a:latin typeface="PingFang T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07A1E"/>
                </a:solidFill>
                <a:latin typeface="PingFang TC"/>
              </a:rPr>
              <a:t>PART 2 ・ 記憶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D29"/>
                </a:solidFill>
                <a:latin typeface="PingFang TC"/>
              </a:rPr>
              <a:t>Coordinator 記憶：兩層式（索引 + 翻閱）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4206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50" b="0">
                <a:solidFill>
                  <a:srgbClr val="1A1D29"/>
                </a:solidFill>
                <a:latin typeface="PingFang TC"/>
              </a:rPr>
              <a:t>▸ 偷自 Claude Code 的形狀：每條記憶一行索引，完整內文按需翻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A1D29"/>
                </a:solidFill>
                <a:latin typeface="PingFang TC"/>
              </a:rPr>
              <a:t>▸ 索引每輪全量注入（≤20 條）— 偏好少，不需要 RAG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A1D29"/>
                </a:solidFill>
                <a:latin typeface="PingFang TC"/>
              </a:rPr>
              <a:t>▸ 索引行 = 召回線索（「畫趨勢圖時——預設 7 天」）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A1D29"/>
                </a:solidFill>
                <a:latin typeface="PingFang TC"/>
              </a:rPr>
              <a:t>▸ 實證：新對話說「建 EQP-06 趨勢圖」→ plan 自動寫「過去 7 天」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A1D29"/>
                </a:solidFill>
                <a:latin typeface="PingFang TC"/>
              </a:rPr>
              <a:t>▸ 誠實鐵律：沒出確認卡不得宣稱「已記住」</a:t>
            </a:r>
          </a:p>
        </p:txBody>
      </p:sp>
      <p:pic>
        <p:nvPicPr>
          <p:cNvPr id="6" name="Picture 5" descr="qa_prefs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417320"/>
            <a:ext cx="6766560" cy="4229100"/>
          </a:xfrm>
          <a:prstGeom prst="rect">
            <a:avLst/>
          </a:prstGeom>
          <a:ln w="9525">
            <a:solidFill>
              <a:srgbClr val="D5D9E2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94360" y="6144768"/>
            <a:ext cx="11002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B6070"/>
                </a:solidFill>
                <a:latin typeface="PingFang TC"/>
              </a:rPr>
              <a:t>「我的偏好」頁 — 對話說「記住：…」確認後落地；顯示每條被想起幾次；四語系支援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070"/>
                </a:solidFill>
                <a:latin typeface="PingFang TC"/>
              </a:rPr>
              <a:t>AIOps Multi-Agent Platform ・ 記憶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070"/>
                </a:solidFill>
                <a:latin typeface="PingFang T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07A1E"/>
                </a:solidFill>
                <a:latin typeface="PingFang TC"/>
              </a:rPr>
              <a:t>PART 2 ・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D29"/>
                </a:solidFill>
                <a:latin typeface="PingFang TC"/>
              </a:rPr>
              <a:t>貼圖溝通：agent 看得懂圖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4206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50" b="0">
                <a:solidFill>
                  <a:srgbClr val="1A1D29"/>
                </a:solidFill>
                <a:latin typeface="PingFang TC"/>
              </a:rPr>
              <a:t>▸ Ctrl+V / 拖放 / 手機選圖，上限 3 張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A1D29"/>
                </a:solidFill>
                <a:latin typeface="PingFang TC"/>
              </a:rPr>
              <a:t>▸ 原圖只當輪送模型（≤1280px），不落庫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A1D29"/>
                </a:solidFill>
                <a:latin typeface="PingFang TC"/>
              </a:rPr>
              <a:t>▸ 縮圖進對話紀錄 — 跨裝置、重整都在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A1D29"/>
                </a:solidFill>
                <a:latin typeface="PingFang TC"/>
              </a:rPr>
              <a:t>▸ 嚴謹判讀規則對圖片一樣生效</a:t>
            </a:r>
          </a:p>
        </p:txBody>
      </p:sp>
      <p:pic>
        <p:nvPicPr>
          <p:cNvPr id="6" name="Picture 5" descr="qa_p3_rep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417320"/>
            <a:ext cx="6766560" cy="4041140"/>
          </a:xfrm>
          <a:prstGeom prst="rect">
            <a:avLst/>
          </a:prstGeom>
          <a:ln w="9525">
            <a:solidFill>
              <a:srgbClr val="D5D9E2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94360" y="6144768"/>
            <a:ext cx="11002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B6070"/>
                </a:solidFill>
                <a:latin typeface="PingFang TC"/>
              </a:rPr>
              <a:t>貼平台截圖問圖表類型 — agent 讀出圖上 R² 標註，還自己指出數值異常（R²&gt;1 不合理）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070"/>
                </a:solidFill>
                <a:latin typeface="PingFang TC"/>
              </a:rPr>
              <a:t>AIOps Multi-Agent Platform ・ 貼圖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070"/>
                </a:solidFill>
                <a:latin typeface="PingFang T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07A1E"/>
                </a:solidFill>
                <a:latin typeface="PingFang TC"/>
              </a:rPr>
              <a:t>PART 2 ・ Planner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D29"/>
                </a:solidFill>
                <a:latin typeface="PingFang TC"/>
              </a:rPr>
              <a:t>Planner：需求 → 可確認的計畫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10029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A1D29"/>
                </a:solidFill>
                <a:latin typeface="PingFang TC"/>
              </a:rPr>
              <a:t>▸ goal_plan 產出 3-5 個 phase：每 phase = id + 預期產出型態 + 一句目標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A1D29"/>
                </a:solidFill>
                <a:latin typeface="PingFang TC"/>
              </a:rPr>
              <a:t>▸ 計畫確認卡：phase 文字可直接點擊編輯，你的修改存為 W1 偏好（下次學到）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A1D29"/>
                </a:solidFill>
                <a:latin typeface="PingFang TC"/>
              </a:rPr>
              <a:t>▸ Knowledge routing（V58）：plan 層與 execute 層各取各的知識（RAG top-k + always-on）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A1D29"/>
                </a:solidFill>
                <a:latin typeface="PingFang TC"/>
              </a:rPr>
              <a:t>▸ Coordinator 的偏好也流進計畫 — 「預設 7 天」不用每次講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070"/>
                </a:solidFill>
                <a:latin typeface="PingFang TC"/>
              </a:rPr>
              <a:t>AIOps Multi-Agent Platform ・ Planner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070"/>
                </a:solidFill>
                <a:latin typeface="PingFang TC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07A1E"/>
                </a:solidFill>
                <a:latin typeface="PingFang TC"/>
              </a:rPr>
              <a:t>PART 2 ・ Builder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D29"/>
                </a:solidFill>
                <a:latin typeface="PingFang TC"/>
              </a:rPr>
              <a:t>Builder：Glass Box 逐積木建構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4206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50" b="0">
                <a:solidFill>
                  <a:srgbClr val="1A1D29"/>
                </a:solidFill>
                <a:latin typeface="PingFang TC"/>
              </a:rPr>
              <a:t>▸ 每輪：選積木 → 填參數 → 自動 preview → verifier 裁決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A1D29"/>
                </a:solidFill>
                <a:latin typeface="PingFang TC"/>
              </a:rPr>
              <a:t>▸ 驗不過 → 帶原因打回，agent 自己修（上限 32 輪）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A1D29"/>
                </a:solidFill>
                <a:latin typeface="PingFang TC"/>
              </a:rPr>
              <a:t>▸ 背景執行（V85）：斷線照跑、任意裝置接續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A1D29"/>
                </a:solidFill>
                <a:latin typeface="PingFang TC"/>
              </a:rPr>
              <a:t>▸ 透明：每一步在 Console 可見，Build Traces 可回放</a:t>
            </a:r>
          </a:p>
        </p:txBody>
      </p:sp>
      <p:pic>
        <p:nvPicPr>
          <p:cNvPr id="6" name="Picture 5" descr="qa_co_buil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417320"/>
            <a:ext cx="6766560" cy="4041140"/>
          </a:xfrm>
          <a:prstGeom prst="rect">
            <a:avLst/>
          </a:prstGeom>
          <a:ln w="9525">
            <a:solidFill>
              <a:srgbClr val="D5D9E2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94360" y="6144768"/>
            <a:ext cx="11002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B6070"/>
                </a:solidFill>
                <a:latin typeface="PingFang TC"/>
              </a:rPr>
              <a:t>建構中：計畫卡 step 1/3 + 右側 Console 即時步驟流 + topbar「agent 執行中」pill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070"/>
                </a:solidFill>
                <a:latin typeface="PingFang TC"/>
              </a:rPr>
              <a:t>AIOps Multi-Agent Platform ・ Builder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070"/>
                </a:solidFill>
                <a:latin typeface="PingFang TC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07A1E"/>
                </a:solidFill>
                <a:latin typeface="PingFang TC"/>
              </a:rPr>
              <a:t>PART 2 ・ Supervisor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D29"/>
                </a:solidFill>
                <a:latin typeface="PingFang TC"/>
              </a:rPr>
              <a:t>Supervisor：策展與治理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10029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A1D29"/>
                </a:solidFill>
                <a:latin typeface="PingFang TC"/>
              </a:rPr>
              <a:t>▸ 知識生命週期：draft → active → stale → archived（V75）</a:t>
            </a:r>
          </a:p>
          <a:p>
            <a:pPr algn="l">
              <a:spcAft>
                <a:spcPts val="400"/>
              </a:spcAft>
            </a:pPr>
            <a:r>
              <a:rPr sz="1350" b="0">
                <a:solidFill>
                  <a:srgbClr val="5B6070"/>
                </a:solidFill>
                <a:latin typeface="PingFang TC"/>
              </a:rPr>
              <a:t>　　偏好 180 天零召回 → PRUNE 提案；domain/procedure 年審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A1D29"/>
                </a:solidFill>
                <a:latin typeface="PingFang TC"/>
              </a:rPr>
              <a:t>▸ 提案卡人審：PRUNE / PROMOTE / MERGE / CORRECT — 按了才生效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A1D29"/>
                </a:solidFill>
                <a:latin typeface="PingFang TC"/>
              </a:rPr>
              <a:t>▸ 每日成本與發散（divergence）報告；異常 build 樣態偵測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A1D29"/>
                </a:solidFill>
                <a:latin typeface="PingFang TC"/>
              </a:rPr>
              <a:t>▸ 本週裁決：agent 自動寫入的 correction 草稿審核收斂到 IT_ADMIN（PE 不再被打擾）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070"/>
                </a:solidFill>
                <a:latin typeface="PingFang TC"/>
              </a:rPr>
              <a:t>AIOps Multi-Agent Platform ・ Supervisor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070"/>
                </a:solidFill>
                <a:latin typeface="PingFang TC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5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9CDBC"/>
                </a:solidFill>
                <a:latin typeface="PingFang TC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56032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PingFang TC"/>
              </a:rPr>
              <a:t>品質防線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40480"/>
            <a:ext cx="1054577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D8E8E0"/>
                </a:solidFill>
                <a:latin typeface="PingFang TC"/>
              </a:rPr>
              <a:t>・ 四層把關：結構 → 參數語意 → 成品規格 → 成品目檢</a:t>
            </a:r>
          </a:p>
          <a:p>
            <a:pPr algn="l"/>
            <a:r>
              <a:rPr sz="1500" b="0">
                <a:solidFill>
                  <a:srgbClr val="D8E8E0"/>
                </a:solidFill>
                <a:latin typeface="PingFang TC"/>
              </a:rPr>
              <a:t>・ 本週最大交付：agent 完工前先看過自己的圖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070"/>
                </a:solidFill>
                <a:latin typeface="PingFang TC"/>
              </a:rPr>
              <a:t>AIOps Multi-Agent Platform ・ 品質防線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070"/>
                </a:solidFill>
                <a:latin typeface="PingFang TC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07A1E"/>
                </a:solidFill>
                <a:latin typeface="PingFang TC"/>
              </a:rPr>
              <a:t>PART 3 ・ 總覽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D29"/>
                </a:solidFill>
                <a:latin typeface="PingFang TC"/>
              </a:rPr>
              <a:t>四層品質防線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11094413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1249"/>
                <a:gridCol w="4322499"/>
                <a:gridCol w="2449416"/>
                <a:gridCol w="2161249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TC"/>
                        </a:rPr>
                        <a:t>層</a:t>
                      </a:r>
                    </a:p>
                  </a:txBody>
                  <a:tcPr>
                    <a:solidFill>
                      <a:srgbClr val="1E5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TC"/>
                        </a:rPr>
                        <a:t>檢查什麼</a:t>
                      </a:r>
                    </a:p>
                  </a:txBody>
                  <a:tcPr>
                    <a:solidFill>
                      <a:srgbClr val="1E5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TC"/>
                        </a:rPr>
                        <a:t>型態</a:t>
                      </a:r>
                    </a:p>
                  </a:txBody>
                  <a:tcPr>
                    <a:solidFill>
                      <a:srgbClr val="1E5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TC"/>
                        </a:rPr>
                        <a:t>上線</a:t>
                      </a:r>
                    </a:p>
                  </a:txBody>
                  <a:tcPr>
                    <a:solidFill>
                      <a:srgbClr val="1E5A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D29"/>
                          </a:solidFill>
                          <a:latin typeface="PingFang TC"/>
                        </a:rPr>
                        <a:t>1 結構 verifier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D29"/>
                          </a:solidFill>
                          <a:latin typeface="PingFang TC"/>
                        </a:rPr>
                        <a:t>孤兒節點、壞葉、參數 schema、殘料自動剪枝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D29"/>
                          </a:solidFill>
                          <a:latin typeface="PingFang TC"/>
                        </a:rPr>
                        <a:t>Deterministic 每輪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D29"/>
                          </a:solidFill>
                          <a:latin typeface="PingFang TC"/>
                        </a:rPr>
                        <a:t>既有＋本週強化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D29"/>
                          </a:solidFill>
                          <a:latin typeface="PingFang TC"/>
                        </a:rPr>
                        <a:t>2 視覺編碼閘</a:t>
                      </a:r>
                    </a:p>
                  </a:txBody>
                  <a:tcPr>
                    <a:solidFill>
                      <a:srgbClr val="F0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D29"/>
                          </a:solidFill>
                          <a:latin typeface="PingFang TC"/>
                        </a:rPr>
                        <a:t>「分色」語意 → series_field 必須設</a:t>
                      </a:r>
                    </a:p>
                  </a:txBody>
                  <a:tcPr>
                    <a:solidFill>
                      <a:srgbClr val="F0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D29"/>
                          </a:solidFill>
                          <a:latin typeface="PingFang TC"/>
                        </a:rPr>
                        <a:t>Deterministic 每輪</a:t>
                      </a:r>
                    </a:p>
                  </a:txBody>
                  <a:tcPr>
                    <a:solidFill>
                      <a:srgbClr val="F0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D29"/>
                          </a:solidFill>
                          <a:latin typeface="PingFang TC"/>
                        </a:rPr>
                        <a:t>本週</a:t>
                      </a:r>
                    </a:p>
                  </a:txBody>
                  <a:tcPr>
                    <a:solidFill>
                      <a:srgbClr val="F0EFE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D29"/>
                          </a:solidFill>
                          <a:latin typeface="PingFang TC"/>
                        </a:rPr>
                        <a:t>3 成品規格檢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D29"/>
                          </a:solidFill>
                          <a:latin typeface="PingFang TC"/>
                        </a:rPr>
                        <a:t>空圖、series 全同值（單色線）、要管制線卻沒有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D29"/>
                          </a:solidFill>
                          <a:latin typeface="PingFang TC"/>
                        </a:rPr>
                        <a:t>Deterministic 完工前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D29"/>
                          </a:solidFill>
                          <a:latin typeface="PingFang TC"/>
                        </a:rPr>
                        <a:t>本週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D29"/>
                          </a:solidFill>
                          <a:latin typeface="PingFang TC"/>
                        </a:rPr>
                        <a:t>4 成品目檢</a:t>
                      </a:r>
                    </a:p>
                  </a:txBody>
                  <a:tcPr>
                    <a:solidFill>
                      <a:srgbClr val="F0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D29"/>
                          </a:solidFill>
                          <a:latin typeface="PingFang TC"/>
                        </a:rPr>
                        <a:t>headless 截圖 → vision judge 對照目標</a:t>
                      </a:r>
                    </a:p>
                  </a:txBody>
                  <a:tcPr>
                    <a:solidFill>
                      <a:srgbClr val="F0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D29"/>
                          </a:solidFill>
                          <a:latin typeface="PingFang TC"/>
                        </a:rPr>
                        <a:t>LLM 完工前一次</a:t>
                      </a:r>
                    </a:p>
                  </a:txBody>
                  <a:tcPr>
                    <a:solidFill>
                      <a:srgbClr val="F0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D29"/>
                          </a:solidFill>
                          <a:latin typeface="PingFang TC"/>
                        </a:rPr>
                        <a:t>本週</a:t>
                      </a:r>
                    </a:p>
                  </a:txBody>
                  <a:tcPr>
                    <a:solidFill>
                      <a:srgbClr val="F0EFE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6144768"/>
            <a:ext cx="11002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07A1E"/>
                </a:solidFill>
                <a:latin typeface="PingFang TC"/>
              </a:rPr>
              <a:t>哲學：便宜的確定性檢查在前面攔大宗；貴的 LLM 判讀只在完工前看一眼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070"/>
                </a:solidFill>
                <a:latin typeface="PingFang TC"/>
              </a:rPr>
              <a:t>AIOps Multi-Agent Platform ・ 品質防線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070"/>
                </a:solidFill>
                <a:latin typeface="PingFang TC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07A1E"/>
                </a:solidFill>
                <a:latin typeface="PingFang TC"/>
              </a:rPr>
              <a:t>PART 3 ・ 目檢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D29"/>
                </a:solidFill>
                <a:latin typeface="PingFang TC"/>
              </a:rPr>
              <a:t>成品目檢：agent 完工前看過自己的圖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4206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50" b="0">
                <a:solidFill>
                  <a:srgbClr val="1A1D29"/>
                </a:solidFill>
                <a:latin typeface="PingFang TC"/>
              </a:rPr>
              <a:t>▸ headless Chromium 跑「跟使用者看到一模一樣」的前端 SVG 引擎截圖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A1D29"/>
                </a:solidFill>
                <a:latin typeface="PingFang TC"/>
              </a:rPr>
              <a:t>▸ Haiku vision judge：就圖論圖對照建圖目標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A1D29"/>
                </a:solidFill>
                <a:latin typeface="PingFang TC"/>
              </a:rPr>
              <a:t>▸ 不過 → 具體指導餵回 Builder 自動修一輪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A1D29"/>
                </a:solidFill>
                <a:latin typeface="PingFang TC"/>
              </a:rPr>
              <a:t>▸ 仍不過 → 失敗卡帶 judge 修法描述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A1D29"/>
                </a:solidFill>
                <a:latin typeface="PingFang TC"/>
              </a:rPr>
              <a:t>▸ 開關：RESULT_VISION_CHECK（預設 ON）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A1D29"/>
                </a:solidFill>
                <a:latin typeface="PingFang TC"/>
              </a:rPr>
              <a:t>▸ judge 校準：只攔重大偏差、拿不準放行、禁杜撰參數</a:t>
            </a:r>
          </a:p>
        </p:txBody>
      </p:sp>
      <p:pic>
        <p:nvPicPr>
          <p:cNvPr id="6" name="Picture 5" descr="qa_b3_done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417320"/>
            <a:ext cx="6766560" cy="4041140"/>
          </a:xfrm>
          <a:prstGeom prst="rect">
            <a:avLst/>
          </a:prstGeom>
          <a:ln w="9525">
            <a:solidFill>
              <a:srgbClr val="D5D9E2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94360" y="6144768"/>
            <a:ext cx="11002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B6070"/>
                </a:solidFill>
                <a:latin typeface="PingFang TC"/>
              </a:rPr>
              <a:t>完成卡帶「（✓ 成品已目檢）」— 這張圖是 vision judge 看過才放行的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070"/>
                </a:solidFill>
                <a:latin typeface="PingFang TC"/>
              </a:rPr>
              <a:t>AIOps Multi-Agent Platform ・ 成品目檢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070"/>
                </a:solidFill>
                <a:latin typeface="PingFang TC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07A1E"/>
                </a:solidFill>
                <a:latin typeface="PingFang TC"/>
              </a:rPr>
              <a:t>PART 3 ・ 自癒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D29"/>
                </a:solidFill>
                <a:latin typeface="PingFang TC"/>
              </a:rPr>
              <a:t>失敗自癒：不再把爛攤子丟給使用者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10029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A1D29"/>
                </a:solidFill>
                <a:latin typeface="PingFang TC"/>
              </a:rPr>
              <a:t>▸ 殘料自動剪枝：agent 半途棄置的壞節點（null 參數、孤兒葉）finalize 自動清掉</a:t>
            </a:r>
          </a:p>
          <a:p>
            <a:pPr algn="l">
              <a:spcAft>
                <a:spcPts val="400"/>
              </a:spcAft>
            </a:pPr>
            <a:r>
              <a:rPr sz="1350" b="0">
                <a:solidFill>
                  <a:srgbClr val="5B6070"/>
                </a:solidFill>
                <a:latin typeface="PingFang TC"/>
              </a:rPr>
              <a:t>　　實案：壞的 chart 節點曾拖垮整包 failed_structural — 健康節點明明就在旁邊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A1D29"/>
                </a:solidFill>
                <a:latin typeface="PingFang TC"/>
              </a:rPr>
              <a:t>▸ set_param(None) = 移除參數（曾因 null 落庫炸 C6 schema 檢查）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A1D29"/>
                </a:solidFill>
                <a:latin typeface="PingFang TC"/>
              </a:rPr>
              <a:t>▸ 失敗選項卡：重試 / 調整說法 / 放棄 — 不再只有一個「中止」chip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A1D29"/>
                </a:solidFill>
                <a:latin typeface="PingFang TC"/>
              </a:rPr>
              <a:t>▸ 失敗原因三處一致：計畫卡、失敗卡、Console 講同一句話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070"/>
                </a:solidFill>
                <a:latin typeface="PingFang TC"/>
              </a:rPr>
              <a:t>AIOps Multi-Agent Platform ・ 失敗自癒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070"/>
                </a:solidFill>
                <a:latin typeface="PingFang TC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07A1E"/>
                </a:solidFill>
                <a:latin typeface="PingFang TC"/>
              </a:rPr>
              <a:t>PART 3 ・ 實案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D29"/>
                </a:solidFill>
                <a:latin typeface="PingFang TC"/>
              </a:rPr>
              <a:t>實案：多機台分色趨勢圖（一天內三層修復）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10029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A1D29"/>
                </a:solidFill>
                <a:latin typeface="PingFang TC"/>
              </a:rPr>
              <a:t>▸ 症狀：「用顏色區分機台」→ 出來單色一條線，verifier 照樣放行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A1D29"/>
                </a:solidFill>
                <a:latin typeface="PingFang TC"/>
              </a:rPr>
              <a:t>▸ Trace 重建三個根因：</a:t>
            </a:r>
          </a:p>
          <a:p>
            <a:pPr algn="l">
              <a:spcAft>
                <a:spcPts val="400"/>
              </a:spcAft>
            </a:pPr>
            <a:r>
              <a:rPr sz="1350" b="0">
                <a:solidFill>
                  <a:srgbClr val="5B6070"/>
                </a:solidFill>
                <a:latin typeface="PingFang TC"/>
              </a:rPr>
              <a:t>　　工具 bug：phase_complete 漏參數 → raw TypeError 把 agent 打亂到亂刪節點</a:t>
            </a:r>
          </a:p>
          <a:p>
            <a:pPr algn="l">
              <a:spcAft>
                <a:spcPts val="400"/>
              </a:spcAft>
            </a:pPr>
            <a:r>
              <a:rPr sz="1350" b="0">
                <a:solidFill>
                  <a:srgbClr val="5B6070"/>
                </a:solidFill>
                <a:latin typeface="PingFang TC"/>
              </a:rPr>
              <a:t>　　語意缺口：series_field 文件有寫但沒被用，verifier 只驗「圖有出來」</a:t>
            </a:r>
          </a:p>
          <a:p>
            <a:pPr algn="l">
              <a:spcAft>
                <a:spcPts val="400"/>
              </a:spcAft>
            </a:pPr>
            <a:r>
              <a:rPr sz="1350" b="0">
                <a:solidFill>
                  <a:srgbClr val="5B6070"/>
                </a:solidFill>
                <a:latin typeface="PingFang TC"/>
              </a:rPr>
              <a:t>　　殘料：abort 又重加 chart 留下重複節點 → failed_structural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A1D29"/>
                </a:solidFill>
                <a:latin typeface="PingFang TC"/>
              </a:rPr>
              <a:t>▸ 修復後實測：10 機台分色 + UCL/LCL + OOC 圈 — 一輪建成、目檢通過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070"/>
                </a:solidFill>
                <a:latin typeface="PingFang TC"/>
              </a:rPr>
              <a:t>AIOps Multi-Agent Platform ・ 實案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070"/>
                </a:solidFill>
                <a:latin typeface="PingFang TC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5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9CDBC"/>
                </a:solidFill>
                <a:latin typeface="PingFang TC"/>
              </a:rP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56032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PingFang TC"/>
              </a:rPr>
              <a:t>學習閉環・觀測性・非同步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40480"/>
            <a:ext cx="1054577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D8E8E0"/>
                </a:solidFill>
                <a:latin typeface="PingFang TC"/>
              </a:rPr>
              <a:t>・ agent 從失敗學習，但人審後才生效</a:t>
            </a:r>
          </a:p>
          <a:p>
            <a:pPr algn="l"/>
            <a:r>
              <a:rPr sz="1500" b="0">
                <a:solidFill>
                  <a:srgbClr val="D8E8E0"/>
                </a:solidFill>
                <a:latin typeface="PingFang TC"/>
              </a:rPr>
              <a:t>・ 每一步可觀測、每一分錢可歸因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070"/>
                </a:solidFill>
                <a:latin typeface="PingFang TC"/>
              </a:rPr>
              <a:t>AIOps Multi-Agent Platform ・ 學習閉環・觀測性・非同步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070"/>
                </a:solidFill>
                <a:latin typeface="PingFang TC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07A1E"/>
                </a:solidFill>
                <a:latin typeface="PingFang TC"/>
              </a:rPr>
              <a:t>PART 4 ・ 學習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D29"/>
                </a:solidFill>
                <a:latin typeface="PingFang TC"/>
              </a:rPr>
              <a:t>學習閉環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10029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A1D29"/>
                </a:solidFill>
                <a:latin typeface="PingFang TC"/>
              </a:rPr>
              <a:t>▸ Builder 修復成功 → 寫 correction 草稿（learned memo）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A1D29"/>
                </a:solidFill>
                <a:latin typeface="PingFang TC"/>
              </a:rPr>
              <a:t>▸ 草稿進 IT_ADMIN 審核佇列 → 核准才影響未來的 planner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A1D29"/>
                </a:solidFill>
                <a:latin typeface="PingFang TC"/>
              </a:rPr>
              <a:t>▸ 計畫卡上的人工編輯 → W1 偏好（個人化，立即生效）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A1D29"/>
                </a:solidFill>
                <a:latin typeface="PingFang TC"/>
              </a:rPr>
              <a:t>▸ 對話「記住」→ 確認卡 → 偏好（Coordinator + Planner 都吃）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A1D29"/>
                </a:solidFill>
                <a:latin typeface="PingFang TC"/>
              </a:rPr>
              <a:t>▸ Supervisor 定期清舊、合併重複 — 知識庫不會野蠻生長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070"/>
                </a:solidFill>
                <a:latin typeface="PingFang TC"/>
              </a:rPr>
              <a:t>AIOps Multi-Agent Platform ・ 學習閉環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070"/>
                </a:solidFill>
                <a:latin typeface="PingFang TC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07A1E"/>
                </a:solidFill>
                <a:latin typeface="PingFang TC"/>
              </a:rPr>
              <a:t>PART 4 ・ 觀測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D29"/>
                </a:solidFill>
                <a:latin typeface="PingFang TC"/>
              </a:rPr>
              <a:t>觀測性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10029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A1D29"/>
                </a:solidFill>
                <a:latin typeface="PingFang TC"/>
              </a:rPr>
              <a:t>▸ Episodes / steps：每次 agent 活動的完整過程（誰觸發、每步做了什麼、結果）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A1D29"/>
                </a:solidFill>
                <a:latin typeface="PingFang TC"/>
              </a:rPr>
              <a:t>▸ Per-agent 成本歸因：Coordinator / Planner / Builder 各花多少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A1D29"/>
                </a:solidFill>
                <a:latin typeface="PingFang TC"/>
              </a:rPr>
              <a:t>▸ Divergence 偵測：同類請求產出漂移時標記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A1D29"/>
                </a:solidFill>
                <a:latin typeface="PingFang TC"/>
              </a:rPr>
              <a:t>▸ Build Traces：每次 build 的 LLM 對話全紀錄，可回放（trace_replay 做對照實驗）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A1D29"/>
                </a:solidFill>
                <a:latin typeface="PingFang TC"/>
              </a:rPr>
              <a:t>▸ ChatOps 右側 Console：使用者即時看 agent 每一步（跑完自動收合、可釘選）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070"/>
                </a:solidFill>
                <a:latin typeface="PingFang TC"/>
              </a:rPr>
              <a:t>AIOps Multi-Agent Platform ・ 觀測性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070"/>
                </a:solidFill>
                <a:latin typeface="PingFang TC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07A1E"/>
                </a:solidFill>
                <a:latin typeface="PingFang TC"/>
              </a:rPr>
              <a:t>PART 4 ・ 非同步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D29"/>
                </a:solidFill>
                <a:latin typeface="PingFang TC"/>
              </a:rPr>
              <a:t>非同步與跨裝置（V85）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10029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A1D29"/>
                </a:solidFill>
                <a:latin typeface="PingFang TC"/>
              </a:rPr>
              <a:t>▸ 背景 Agent Tasks：建構發起後與畫面解耦 — 關瀏覽器、鎖屏照跑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A1D29"/>
                </a:solidFill>
                <a:latin typeface="PingFang TC"/>
              </a:rPr>
              <a:t>▸ 任意裝置 reattach：回放事件緩衝 + 接上即時流（計畫卡原地打勾）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A1D29"/>
                </a:solidFill>
                <a:latin typeface="PingFang TC"/>
              </a:rPr>
              <a:t>▸ Rich history：對話含圖卡整包存 server — 手機建的圖桌機看得到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A1D29"/>
                </a:solidFill>
                <a:latin typeface="PingFang TC"/>
              </a:rPr>
              <a:t>▸ Session 管理：預設開新、近期 5 則、打包歷史 10 則自動輪替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A1D29"/>
                </a:solidFill>
                <a:latin typeface="PingFang TC"/>
              </a:rPr>
              <a:t>▸ My Drafts：建圖自動暫存（10 格、◆ 保留標記防淘汰、Try Run）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070"/>
                </a:solidFill>
                <a:latin typeface="PingFang TC"/>
              </a:rPr>
              <a:t>AIOps Multi-Agent Platform ・ 非同步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070"/>
                </a:solidFill>
                <a:latin typeface="PingFang TC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5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9CDBC"/>
                </a:solidFill>
                <a:latin typeface="PingFang TC"/>
              </a:rPr>
              <a:t>PART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56032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PingFang TC"/>
              </a:rPr>
              <a:t>使用者體驗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40480"/>
            <a:ext cx="1054577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D8E8E0"/>
                </a:solidFill>
                <a:latin typeface="PingFang TC"/>
              </a:rPr>
              <a:t>・ ChatOps 介面改版</a:t>
            </a:r>
          </a:p>
          <a:p>
            <a:pPr algn="l"/>
            <a:r>
              <a:rPr sz="1500" b="0">
                <a:solidFill>
                  <a:srgbClr val="D8E8E0"/>
                </a:solidFill>
                <a:latin typeface="PingFang TC"/>
              </a:rPr>
              <a:t>・ 手機版 v1</a:t>
            </a:r>
          </a:p>
          <a:p>
            <a:pPr algn="l"/>
            <a:r>
              <a:rPr sz="1500" b="0">
                <a:solidFill>
                  <a:srgbClr val="D8E8E0"/>
                </a:solidFill>
                <a:latin typeface="PingFang TC"/>
              </a:rPr>
              <a:t>・ 10 組配色主題</a:t>
            </a:r>
          </a:p>
          <a:p>
            <a:pPr algn="l"/>
            <a:r>
              <a:rPr sz="1500" b="0">
                <a:solidFill>
                  <a:srgbClr val="D8E8E0"/>
                </a:solidFill>
                <a:latin typeface="PingFang TC"/>
              </a:rPr>
              <a:t>・ 四語系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070"/>
                </a:solidFill>
                <a:latin typeface="PingFang TC"/>
              </a:rPr>
              <a:t>AIOps Multi-Agent Platform ・ 使用者體驗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070"/>
                </a:solidFill>
                <a:latin typeface="PingFang TC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07A1E"/>
                </a:solidFill>
                <a:latin typeface="PingFang TC"/>
              </a:rPr>
              <a:t>PART 5 ・ ChatOps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D29"/>
                </a:solidFill>
                <a:latin typeface="PingFang TC"/>
              </a:rPr>
              <a:t>ChatOps 介面改版（設計稿六項）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4206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50" b="0">
                <a:solidFill>
                  <a:srgbClr val="1A1D29"/>
                </a:solidFill>
                <a:latin typeface="PingFang TC"/>
              </a:rPr>
              <a:t>▸ 建構中卡：step x/y +「背景執行，斷線照跑」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A1D29"/>
                </a:solidFill>
                <a:latin typeface="PingFang TC"/>
              </a:rPr>
              <a:t>▸ 完成卡：已自動存入草稿 (x/10) + 打開編輯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A1D29"/>
                </a:solidFill>
                <a:latin typeface="PingFang TC"/>
              </a:rPr>
              <a:t>▸ 右側 Console：跑完 8 秒自動收合、可釘選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A1D29"/>
                </a:solidFill>
                <a:latin typeface="PingFang TC"/>
              </a:rPr>
              <a:t>▸ Topbar「agent 執行中」pill：點了回到該對話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A1D29"/>
                </a:solidFill>
                <a:latin typeface="PingFang TC"/>
              </a:rPr>
              <a:t>▸ 失敗出選項卡（重試/調整/放棄）</a:t>
            </a:r>
          </a:p>
        </p:txBody>
      </p:sp>
      <p:pic>
        <p:nvPicPr>
          <p:cNvPr id="6" name="Picture 5" descr="qa_s2_done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417320"/>
            <a:ext cx="6766560" cy="4041140"/>
          </a:xfrm>
          <a:prstGeom prst="rect">
            <a:avLst/>
          </a:prstGeom>
          <a:ln w="9525">
            <a:solidFill>
              <a:srgbClr val="D5D9E2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94360" y="6144768"/>
            <a:ext cx="11002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B6070"/>
                </a:solidFill>
                <a:latin typeface="PingFang TC"/>
              </a:rPr>
              <a:t>左：最近運作＋對話紀錄＋My Drafts；中：計畫卡/完成卡；右：深色 Console 步驟流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070"/>
                </a:solidFill>
                <a:latin typeface="PingFang TC"/>
              </a:rPr>
              <a:t>AIOps Multi-Agent Platform ・ ChatOps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070"/>
                </a:solidFill>
                <a:latin typeface="PingFang TC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07A1E"/>
                </a:solidFill>
                <a:latin typeface="PingFang TC"/>
              </a:rPr>
              <a:t>PART 5 ・ 手機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D29"/>
                </a:solidFill>
                <a:latin typeface="PingFang TC"/>
              </a:rPr>
              <a:t>手機版 v1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4206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50" b="0">
                <a:solidFill>
                  <a:srgbClr val="1A1D29"/>
                </a:solidFill>
                <a:latin typeface="PingFang TC"/>
              </a:rPr>
              <a:t>▸ 告警戰情：KPI 橫捲、叢集卡、AI 診斷、一鍵 Acknowledge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A1D29"/>
                </a:solidFill>
                <a:latin typeface="PingFang TC"/>
              </a:rPr>
              <a:t>▸ 對話 = 完整 agent（建圖、確認卡、記憶都可用）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A1D29"/>
                </a:solidFill>
                <a:latin typeface="PingFang TC"/>
              </a:rPr>
              <a:t>▸ ☰ 抽屜：對話紀錄、My Drafts、外觀主題、我的偏好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A1D29"/>
                </a:solidFill>
                <a:latin typeface="PingFang TC"/>
              </a:rPr>
              <a:t>▸ Skills tab 純檢視 — 編輯回桌機（裁決）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A1D29"/>
                </a:solidFill>
                <a:latin typeface="PingFang TC"/>
              </a:rPr>
              <a:t>▸ 斷線照跑 + 回來接續（V85）</a:t>
            </a:r>
          </a:p>
        </p:txBody>
      </p:sp>
      <p:pic>
        <p:nvPicPr>
          <p:cNvPr id="6" name="Picture 5" descr="qa_w0_mobile_overview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2946" y="1417320"/>
            <a:ext cx="2739068" cy="4663440"/>
          </a:xfrm>
          <a:prstGeom prst="rect">
            <a:avLst/>
          </a:prstGeom>
          <a:ln w="9525">
            <a:solidFill>
              <a:srgbClr val="D5D9E2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94360" y="6144768"/>
            <a:ext cx="11002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B6070"/>
                </a:solidFill>
                <a:latin typeface="PingFang TC"/>
              </a:rPr>
              <a:t>4 tabs：對話/總覽/Skills/手冊；≤899px 自動切版；主題跟隨（圖為海墨主題）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070"/>
                </a:solidFill>
                <a:latin typeface="PingFang TC"/>
              </a:rPr>
              <a:t>AIOps Multi-Agent Platform ・ 手機版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070"/>
                </a:solidFill>
                <a:latin typeface="PingFang TC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07A1E"/>
                </a:solidFill>
                <a:latin typeface="PingFang TC"/>
              </a:rPr>
              <a:t>PART 5 ・ 主題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D29"/>
                </a:solidFill>
                <a:latin typeface="PingFang TC"/>
              </a:rPr>
              <a:t>10 組配色主題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4206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50" b="0">
                <a:solidFill>
                  <a:srgbClr val="1A1D29"/>
                </a:solidFill>
                <a:latin typeface="PingFang TC"/>
              </a:rPr>
              <a:t>▸ 松砂（預設）/靛霧/赭陶/海墨/蒼杉/梅紫/石墨/酒紅/苔金/湖水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A1D29"/>
                </a:solidFill>
                <a:latin typeface="PingFang TC"/>
              </a:rPr>
              <a:t>▸ 7 個 CSS 變數驅動 — 切換零重繪成本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A1D29"/>
                </a:solidFill>
                <a:latin typeface="PingFang TC"/>
              </a:rPr>
              <a:t>▸ AI 識別色跟主色走（✦ 浮鈕、AI 卡框）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A1D29"/>
                </a:solidFill>
                <a:latin typeface="PingFang TC"/>
              </a:rPr>
              <a:t>▸ 語意色固定不隨主題：管制紅/警示琥珀/成功綠（製程語意）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A1D29"/>
                </a:solidFill>
                <a:latin typeface="PingFang TC"/>
              </a:rPr>
              <a:t>▸ 舊主題 slug 自動映射，既有帳號無感升級</a:t>
            </a:r>
          </a:p>
        </p:txBody>
      </p:sp>
      <p:pic>
        <p:nvPicPr>
          <p:cNvPr id="6" name="Picture 5" descr="qa_w0_mobile_dra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2946" y="1417320"/>
            <a:ext cx="2739068" cy="4663440"/>
          </a:xfrm>
          <a:prstGeom prst="rect">
            <a:avLst/>
          </a:prstGeom>
          <a:ln w="9525">
            <a:solidFill>
              <a:srgbClr val="D5D9E2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94360" y="6144768"/>
            <a:ext cx="11002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B6070"/>
                </a:solidFill>
                <a:latin typeface="PingFang TC"/>
              </a:rPr>
              <a:t>手機抽屜的外觀色點列；桌機在帳號選單 — 即點即換不重整，DB 持久化跨裝置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070"/>
                </a:solidFill>
                <a:latin typeface="PingFang TC"/>
              </a:rPr>
              <a:t>AIOps Multi-Agent Platform ・ 主題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070"/>
                </a:solidFill>
                <a:latin typeface="PingFang TC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07A1E"/>
                </a:solidFill>
                <a:latin typeface="PingFang TC"/>
              </a:rPr>
              <a:t>PART 5 ・ i18n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D29"/>
                </a:solidFill>
                <a:latin typeface="PingFang TC"/>
              </a:rPr>
              <a:t>多語系（4 locales）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10029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A1D29"/>
                </a:solidFill>
                <a:latin typeface="PingFang TC"/>
              </a:rPr>
              <a:t>▸ 繁體中文（預設）/ English / 日本語 / 简体中文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A1D29"/>
                </a:solidFill>
                <a:latin typeface="PingFang TC"/>
              </a:rPr>
              <a:t>▸ Cookie-based 切換（Topbar / 手機抽屜）— 不做 URL prefix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A1D29"/>
                </a:solidFill>
                <a:latin typeface="PingFang TC"/>
              </a:rPr>
              <a:t>▸ 訊息檔按 namespace 拆檔（nav/buildFlow/kb/me/…）— 各 surface 平行翻譯不打架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A1D29"/>
                </a:solidFill>
                <a:latin typeface="PingFang TC"/>
              </a:rPr>
              <a:t>▸ Agent 對話跟隨 UI 語系（MANDATORY directive 注入）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A1D29"/>
                </a:solidFill>
                <a:latin typeface="PingFang TC"/>
              </a:rPr>
              <a:t>▸ Glossary + check script 保守術語一致（UCL/LCL/OOC 等不翻）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A1D29"/>
                </a:solidFill>
                <a:latin typeface="PingFang TC"/>
              </a:rPr>
              <a:t>▸ 誠實備註：手機殼層字串仍繁中先行（裁決），W5 統一補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070"/>
                </a:solidFill>
                <a:latin typeface="PingFang TC"/>
              </a:rPr>
              <a:t>AIOps Multi-Agent Platform ・ 多語系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070"/>
                </a:solidFill>
                <a:latin typeface="PingFang TC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5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9CDBC"/>
                </a:solidFill>
                <a:latin typeface="PingFang TC"/>
              </a:rPr>
              <a:t>PART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56032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PingFang TC"/>
              </a:rPr>
              <a:t>積木平台（58 Blocks）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40480"/>
            <a:ext cx="1054577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D8E8E0"/>
                </a:solidFill>
                <a:latin typeface="PingFang TC"/>
              </a:rPr>
              <a:t>・ 手冊自動生成・表單去 JSON 化</a:t>
            </a:r>
          </a:p>
          <a:p>
            <a:pPr algn="l"/>
            <a:r>
              <a:rPr sz="1500" b="0">
                <a:solidFill>
                  <a:srgbClr val="D8E8E0"/>
                </a:solidFill>
                <a:latin typeface="PingFang TC"/>
              </a:rPr>
              <a:t>・ 新積木與本週修正/增能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070"/>
                </a:solidFill>
                <a:latin typeface="PingFang TC"/>
              </a:rPr>
              <a:t>AIOps Multi-Agent Platform ・ 積木平台（58 Blocks）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070"/>
                </a:solidFill>
                <a:latin typeface="PingFang TC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07A1E"/>
                </a:solidFill>
                <a:latin typeface="PingFang TC"/>
              </a:rPr>
              <a:t>PART 6 ・ 總覽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D29"/>
                </a:solidFill>
                <a:latin typeface="PingFang TC"/>
              </a:rPr>
              <a:t>積木平台總覽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10029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A1D29"/>
                </a:solidFill>
                <a:latin typeface="PingFang TC"/>
              </a:rPr>
              <a:t>▸ 58 顆積木：資料源 / 處理 / 邏輯統計 / 輸出（18 種圖表）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A1D29"/>
                </a:solidFill>
                <a:latin typeface="PingFang TC"/>
              </a:rPr>
              <a:t>▸ 文件單一來源：seed.py → GUI 表單、agent 目錄、docs/BLOCKS.md 全部出自它</a:t>
            </a:r>
          </a:p>
          <a:p>
            <a:pPr algn="l">
              <a:spcAft>
                <a:spcPts val="400"/>
              </a:spcAft>
            </a:pPr>
            <a:r>
              <a:rPr sz="1350" b="0">
                <a:solidFill>
                  <a:srgbClr val="5B6070"/>
                </a:solidFill>
                <a:latin typeface="PingFang TC"/>
              </a:rPr>
              <a:t>　　docs/BLOCKS.md 由 tools/blocks_doc/generate.py 自動生成 — 永不過時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A1D29"/>
                </a:solidFill>
                <a:latin typeface="PingFang TC"/>
              </a:rPr>
              <a:t>▸ 行為測試套件：test_blocks_core.py 23 案例，逐案對照文件宣稱的行為</a:t>
            </a:r>
          </a:p>
          <a:p>
            <a:pPr algn="l">
              <a:spcAft>
                <a:spcPts val="400"/>
              </a:spcAft>
            </a:pPr>
            <a:r>
              <a:rPr sz="1350" b="0">
                <a:solidFill>
                  <a:srgbClr val="5B6070"/>
                </a:solidFill>
                <a:latin typeface="PingFang TC"/>
              </a:rPr>
              <a:t>　　「文件說謊測試會抓到」— streak 的文件範例本身就是測試案例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A1D29"/>
                </a:solidFill>
                <a:latin typeface="PingFang TC"/>
              </a:rPr>
              <a:t>▸ 教訓（誠實記錄）：曾提案重造已存在的 regression/correlation — 58 顆連 agent 開發者都記不住，所以手冊必要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070"/>
                </a:solidFill>
                <a:latin typeface="PingFang TC"/>
              </a:rPr>
              <a:t>AIOps Multi-Agent Platform ・ 積木平台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070"/>
                </a:solidFill>
                <a:latin typeface="PingFang TC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07A1E"/>
                </a:solidFill>
                <a:latin typeface="PingFang TC"/>
              </a:rPr>
              <a:t>PART 6 ・ 表單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D29"/>
                </a:solidFill>
                <a:latin typeface="PingFang TC"/>
              </a:rPr>
              <a:t>表單去 JSON 化：積木是給人用的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4206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50" b="0">
                <a:solidFill>
                  <a:srgbClr val="1A1D29"/>
                </a:solidFill>
                <a:latin typeface="PingFang TC"/>
              </a:rPr>
              <a:t>▸ 全平台掃描出 20 個「要人打 JSON」的參數，全數表單化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A1D29"/>
                </a:solidFill>
                <a:latin typeface="PingFang TC"/>
              </a:rPr>
              <a:t>▸ compute：條件標記/串接/算術/轉型 四模式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A1D29"/>
                </a:solidFill>
                <a:latin typeface="PingFang TC"/>
              </a:rPr>
              <a:t>▸ filter 多條件、groupby 多聚合、管制線 rules 逐列編輯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A1D29"/>
                </a:solidFill>
                <a:latin typeface="PingFang TC"/>
              </a:rPr>
              <a:t>▸ MCP args / chart style：key=value 表格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A1D29"/>
                </a:solidFill>
                <a:latin typeface="PingFang TC"/>
              </a:rPr>
              <a:t>▸ 既有值認得就還原成表單，認不得落 JSON 原樣可編 — 不弄壞舊 pipeline</a:t>
            </a:r>
          </a:p>
        </p:txBody>
      </p:sp>
      <p:pic>
        <p:nvPicPr>
          <p:cNvPr id="6" name="Picture 5" descr="qa_compute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8021" y="1417320"/>
            <a:ext cx="2768917" cy="4663440"/>
          </a:xfrm>
          <a:prstGeom prst="rect">
            <a:avLst/>
          </a:prstGeom>
          <a:ln w="9525">
            <a:solidFill>
              <a:srgbClr val="D5D9E2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94360" y="6144768"/>
            <a:ext cx="11002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B6070"/>
                </a:solidFill>
                <a:latin typeface="PingFang TC"/>
              </a:rPr>
              <a:t>block_compute：「若 spc_status ＝ OOC → 成立 1／否則 0」— 五種模式，複合邏輯才落進階 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070"/>
                </a:solidFill>
                <a:latin typeface="PingFang TC"/>
              </a:rPr>
              <a:t>AIOps Multi-Agent Platform ・ 表單化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070"/>
                </a:solidFill>
                <a:latin typeface="PingFang TC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07A1E"/>
                </a:solidFill>
                <a:latin typeface="PingFang TC"/>
              </a:rPr>
              <a:t>PART 6 ・ 修正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D29"/>
                </a:solidFill>
                <a:latin typeface="PingFang TC"/>
              </a:rPr>
              <a:t>本週修正/增能的積木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11094414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0010"/>
                <a:gridCol w="8184404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TC"/>
                        </a:rPr>
                        <a:t>積木</a:t>
                      </a:r>
                    </a:p>
                  </a:txBody>
                  <a:tcPr>
                    <a:solidFill>
                      <a:srgbClr val="1E5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TC"/>
                        </a:rPr>
                        <a:t>改了什麼</a:t>
                      </a:r>
                    </a:p>
                  </a:txBody>
                  <a:tcPr>
                    <a:solidFill>
                      <a:srgbClr val="1E5A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D29"/>
                          </a:solidFill>
                          <a:latin typeface="PingFang TC"/>
                        </a:rPr>
                        <a:t>block_sort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D29"/>
                          </a:solidFill>
                          <a:latin typeface="PingFang TC"/>
                        </a:rPr>
                        <a:t>多鍵排序逗號寬容（'toolID,eventTime' 直接可用）＋ 逐鍵表單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D29"/>
                          </a:solidFill>
                          <a:latin typeface="PingFang TC"/>
                        </a:rPr>
                        <a:t>block_filter</a:t>
                      </a:r>
                    </a:p>
                  </a:txBody>
                  <a:tcPr>
                    <a:solidFill>
                      <a:srgbClr val="F0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D29"/>
                          </a:solidFill>
                          <a:latin typeface="PingFang TC"/>
                        </a:rPr>
                        <a:t>conditions 多條件（and/or）＋ not_in 運算子（多值/逗號）</a:t>
                      </a:r>
                    </a:p>
                  </a:txBody>
                  <a:tcPr>
                    <a:solidFill>
                      <a:srgbClr val="F0EFE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D29"/>
                          </a:solidFill>
                          <a:latin typeface="PingFang TC"/>
                        </a:rPr>
                        <a:t>block_groupby_agg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D29"/>
                          </a:solidFill>
                          <a:latin typeface="PingFang TC"/>
                        </a:rPr>
                        <a:t>aggregations 一顆多聚合（mean+count+max…）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D29"/>
                          </a:solidFill>
                          <a:latin typeface="PingFang TC"/>
                        </a:rPr>
                        <a:t>block_compute</a:t>
                      </a:r>
                    </a:p>
                  </a:txBody>
                  <a:tcPr>
                    <a:solidFill>
                      <a:srgbClr val="F0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D29"/>
                          </a:solidFill>
                          <a:latin typeface="PingFang TC"/>
                        </a:rPr>
                        <a:t>concat / if / abs / round 新 ops ＋ column 錯誤訊息講人話</a:t>
                      </a:r>
                    </a:p>
                  </a:txBody>
                  <a:tcPr>
                    <a:solidFill>
                      <a:srgbClr val="F0EFE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D29"/>
                          </a:solidFill>
                          <a:latin typeface="PingFang TC"/>
                        </a:rPr>
                        <a:t>block_line_chart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D29"/>
                          </a:solidFill>
                          <a:latin typeface="PingFang TC"/>
                        </a:rPr>
                        <a:t>x 可省略＝照資料順序 1..N ＋ style.dashed_series 指定虛線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D29"/>
                          </a:solidFill>
                          <a:latin typeface="PingFang TC"/>
                        </a:rPr>
                        <a:t>block_scatter_chart</a:t>
                      </a:r>
                    </a:p>
                  </a:txBody>
                  <a:tcPr>
                    <a:solidFill>
                      <a:srgbClr val="F0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D29"/>
                          </a:solidFill>
                          <a:latin typeface="PingFang TC"/>
                        </a:rPr>
                        <a:t>regression=true 疊迴歸線＋圖上標 slope 與 R²</a:t>
                      </a:r>
                    </a:p>
                  </a:txBody>
                  <a:tcPr>
                    <a:solidFill>
                      <a:srgbClr val="F0EFE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D29"/>
                          </a:solidFill>
                          <a:latin typeface="PingFang TC"/>
                        </a:rPr>
                        <a:t>block_data_view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D29"/>
                          </a:solidFill>
                          <a:latin typeface="PingFang TC"/>
                        </a:rPr>
                        <a:t>highlight_rules 條件格式化（OOC 紅底這類 cell 套色）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D29"/>
                          </a:solidFill>
                          <a:latin typeface="PingFang TC"/>
                        </a:rPr>
                        <a:t>block_correlation</a:t>
                      </a:r>
                    </a:p>
                  </a:txBody>
                  <a:tcPr>
                    <a:solidFill>
                      <a:srgbClr val="F0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D29"/>
                          </a:solidFill>
                          <a:latin typeface="PingFang TC"/>
                        </a:rPr>
                        <a:t>columns 可省略（全數值欄）＋ target 排行模式</a:t>
                      </a:r>
                    </a:p>
                  </a:txBody>
                  <a:tcPr>
                    <a:solidFill>
                      <a:srgbClr val="F0EFE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6144768"/>
            <a:ext cx="11002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07A1E"/>
                </a:solidFill>
                <a:latin typeface="PingFang TC"/>
              </a:rPr>
              <a:t>全部向下相容 — 單數參數/舊契約照舊，既有 pipeline 一顆不壞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070"/>
                </a:solidFill>
                <a:latin typeface="PingFang TC"/>
              </a:rPr>
              <a:t>AIOps Multi-Agent Platform ・ 積木修正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070"/>
                </a:solidFill>
                <a:latin typeface="PingFang TC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07A1E"/>
                </a:solidFill>
                <a:latin typeface="PingFang TC"/>
              </a:rPr>
              <a:t>PART 6 ・ 統計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D29"/>
                </a:solidFill>
                <a:latin typeface="PingFang TC"/>
              </a:rPr>
              <a:t>新積木與統計能力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4206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50" b="0">
                <a:solidFill>
                  <a:srgbClr val="1A1D29"/>
                </a:solidFill>
                <a:latin typeface="PingFang TC"/>
              </a:rPr>
              <a:t>▸ block_streak（新）：連續上升/下降 run length — 「連 5 筆上升就告警」一顆搞定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A1D29"/>
                </a:solidFill>
                <a:latin typeface="PingFang TC"/>
              </a:rPr>
              <a:t>▸ block_linear_regression（既有）：slope/R²/p-value/CI band、可分組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A1D29"/>
                </a:solidFill>
                <a:latin typeface="PingFang TC"/>
              </a:rPr>
              <a:t>▸ block_correlation：pearson/spearman/kendall；target 模式＝「哪些欄位跟 X 最相關」排行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A1D29"/>
                </a:solidFill>
                <a:latin typeface="PingFang TC"/>
              </a:rPr>
              <a:t>▸ 與 tail 型 consecutive_rule 互補，文件雙向標註區別</a:t>
            </a:r>
          </a:p>
        </p:txBody>
      </p:sp>
      <p:pic>
        <p:nvPicPr>
          <p:cNvPr id="6" name="Picture 5" descr="qa_p2_done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417320"/>
            <a:ext cx="6766560" cy="4041140"/>
          </a:xfrm>
          <a:prstGeom prst="rect">
            <a:avLst/>
          </a:prstGeom>
          <a:ln w="9525">
            <a:solidFill>
              <a:srgbClr val="D5D9E2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94360" y="6144768"/>
            <a:ext cx="11002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B6070"/>
                </a:solidFill>
                <a:latin typeface="PingFang TC"/>
              </a:rPr>
              <a:t>scatter regression=true：紫虛線 + slope/R² 標註（經 verifier 4 次退回後收斂完成）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070"/>
                </a:solidFill>
                <a:latin typeface="PingFang TC"/>
              </a:rPr>
              <a:t>AIOps Multi-Agent Platform ・ 統計積木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070"/>
                </a:solidFill>
                <a:latin typeface="PingFang TC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07A1E"/>
                </a:solidFill>
                <a:latin typeface="PingFang TC"/>
              </a:rPr>
              <a:t>PART 6 ・ 實戰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D29"/>
                </a:solidFill>
                <a:latin typeface="PingFang TC"/>
              </a:rPr>
              <a:t>實戰：相關性排行 pipeline（agent 自建）</a:t>
            </a:r>
          </a:p>
        </p:txBody>
      </p:sp>
      <p:pic>
        <p:nvPicPr>
          <p:cNvPr id="5" name="Picture 4" descr="qa_s2_done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6485" y="1417320"/>
            <a:ext cx="7808550" cy="4663440"/>
          </a:xfrm>
          <a:prstGeom prst="rect">
            <a:avLst/>
          </a:prstGeom>
          <a:ln w="9525">
            <a:solidFill>
              <a:srgbClr val="D5D9E2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94360" y="6144768"/>
            <a:ext cx="11002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B6070"/>
                </a:solidFill>
                <a:latin typeface="PingFang TC"/>
              </a:rPr>
              <a:t>「找出跟 xbar 值最相關的欄位排行」→ agent 選 block_correlation，4/4 建成含 p-value 表格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070"/>
                </a:solidFill>
                <a:latin typeface="PingFang TC"/>
              </a:rPr>
              <a:t>AIOps Multi-Agent Platform ・ 統計實戰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070"/>
                </a:solidFill>
                <a:latin typeface="PingFang TC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5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9CDBC"/>
                </a:solidFill>
                <a:latin typeface="PingFang TC"/>
              </a:rPr>
              <a:t>PART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56032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PingFang TC"/>
              </a:rPr>
              <a:t>測試・安全・Roadmap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40480"/>
            <a:ext cx="1054577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D8E8E0"/>
                </a:solidFill>
                <a:latin typeface="PingFang TC"/>
              </a:rPr>
              <a:t>・ 驗證像使用者、就數據說話</a:t>
            </a:r>
          </a:p>
          <a:p>
            <a:pPr algn="l"/>
            <a:r>
              <a:rPr sz="1500" b="0">
                <a:solidFill>
                  <a:srgbClr val="D8E8E0"/>
                </a:solidFill>
                <a:latin typeface="PingFang TC"/>
              </a:rPr>
              <a:t>・ 接下來要做什麼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070"/>
                </a:solidFill>
                <a:latin typeface="PingFang TC"/>
              </a:rPr>
              <a:t>AIOps Multi-Agent Platform ・ 測試・安全・Roadmap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070"/>
                </a:solidFill>
                <a:latin typeface="PingFang TC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07A1E"/>
                </a:solidFill>
                <a:latin typeface="PingFang TC"/>
              </a:rPr>
              <a:t>PART 7 ・ 測試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D29"/>
                </a:solidFill>
                <a:latin typeface="PingFang TC"/>
              </a:rPr>
              <a:t>測試與回歸文化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10029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A1D29"/>
                </a:solidFill>
                <a:latin typeface="PingFang TC"/>
              </a:rPr>
              <a:t>▸ 驗證像使用者：Playwright 真 UI 實測 + 截圖為證，不是「code 寫完就算好」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A1D29"/>
                </a:solidFill>
                <a:latin typeface="PingFang TC"/>
              </a:rPr>
              <a:t>▸ 回歸包 tools/regression_pack：5 案例一鍵跑（動 builder 前必跑）</a:t>
            </a:r>
          </a:p>
          <a:p>
            <a:pPr algn="l">
              <a:spcAft>
                <a:spcPts val="400"/>
              </a:spcAft>
            </a:pPr>
            <a:r>
              <a:rPr sz="1350" b="0">
                <a:solidFill>
                  <a:srgbClr val="5B6070"/>
                </a:solidFill>
                <a:latin typeface="PingFang TC"/>
              </a:rPr>
              <a:t>　　case 0 = 23 個積木行為單測（秒級、免 LLM）；LLM 案例 3 連過才算穩定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A1D29"/>
                </a:solidFill>
                <a:latin typeface="PingFang TC"/>
              </a:rPr>
              <a:t>▸ SLASH-17 全量基準：里程碑才燒（分級閘門 — 省 key 額度）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A1D29"/>
                </a:solidFill>
                <a:latin typeface="PingFang TC"/>
              </a:rPr>
              <a:t>▸ Build Traces + trace_replay：失敗先讀 trace 重建，不憑感覺猜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070"/>
                </a:solidFill>
                <a:latin typeface="PingFang TC"/>
              </a:rPr>
              <a:t>AIOps Multi-Agent Platform ・ 測試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070"/>
                </a:solidFill>
                <a:latin typeface="PingFang TC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07A1E"/>
                </a:solidFill>
                <a:latin typeface="PingFang TC"/>
              </a:rPr>
              <a:t>PART 7 ・ 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D29"/>
                </a:solidFill>
                <a:latin typeface="PingFang TC"/>
              </a:rPr>
              <a:t>平台架構與安全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10029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A1D29"/>
                </a:solidFill>
                <a:latin typeface="PingFang TC"/>
              </a:rPr>
              <a:t>▸ 四服務：Next.js 前端(8000) / Java API=唯一 DB 擁有者(8002) / Python sidecar=所有 agent(8050) / 模擬器(8012)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A1D29"/>
                </a:solidFill>
                <a:latin typeface="PingFang TC"/>
              </a:rPr>
              <a:t>▸ Sidecar 永不直連 DB — 一律透過 Java internal API（X-Internal-Token）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A1D29"/>
                </a:solidFill>
                <a:latin typeface="PingFang TC"/>
              </a:rPr>
              <a:t>▸ 認證：JWT + 角色階層 IT_ADMIN &gt; PE &gt; ON_DUTY；OIDC 可掛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A1D29"/>
                </a:solidFill>
                <a:latin typeface="PingFang TC"/>
              </a:rPr>
              <a:t>▸ Agent 寫入 = 瀏覽器確認卡（使用者 JWT）；敏感審核收斂 IT_ADMIN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A1D29"/>
                </a:solidFill>
                <a:latin typeface="PingFang TC"/>
              </a:rPr>
              <a:t>▸ 部署：EC2 systemd（K8s ready — env-driven ports、standalone build）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070"/>
                </a:solidFill>
                <a:latin typeface="PingFang TC"/>
              </a:rPr>
              <a:t>AIOps Multi-Agent Platform ・ 架構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070"/>
                </a:solidFill>
                <a:latin typeface="PingFang TC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07A1E"/>
                </a:solidFill>
                <a:latin typeface="PingFang TC"/>
              </a:rPr>
              <a:t>PART 7 ・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D29"/>
                </a:solidFill>
                <a:latin typeface="PingFang TC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10029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A1D29"/>
                </a:solidFill>
                <a:latin typeface="PingFang TC"/>
              </a:rPr>
              <a:t>▸ 進行中：UI Refine W1-W5（卡片系統統一、草稿歸巢、頁面 restyle、i18n 補課）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A1D29"/>
                </a:solidFill>
                <a:latin typeface="PingFang TC"/>
              </a:rPr>
              <a:t>▸ 已對齊待做：Coordinator 失敗迴路完整版（失敗 → 自動診斷 → 具體重試選項）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A1D29"/>
                </a:solidFill>
                <a:latin typeface="PingFang TC"/>
              </a:rPr>
              <a:t>▸ 等數據再決定：成品目檢階段二（每輪 vision）、記憶 RAG 化（偏好量大才需要）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A1D29"/>
                </a:solidFill>
                <a:latin typeface="PingFang TC"/>
              </a:rPr>
              <a:t>▸ 遠期：K8s 部署包（等 target 環境）、v6 遺留清理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070"/>
                </a:solidFill>
                <a:latin typeface="PingFang TC"/>
              </a:rPr>
              <a:t>AIOps Multi-Agent Platform ・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070"/>
                </a:solidFill>
                <a:latin typeface="PingFang TC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07A1E"/>
                </a:solidFill>
                <a:latin typeface="PingFang TC"/>
              </a:rPr>
              <a:t>附錄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D29"/>
                </a:solidFill>
                <a:latin typeface="PingFang TC"/>
              </a:rPr>
              <a:t>名詞對照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11094414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0010"/>
                <a:gridCol w="8184404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TC"/>
                        </a:rPr>
                        <a:t>名詞</a:t>
                      </a:r>
                    </a:p>
                  </a:txBody>
                  <a:tcPr>
                    <a:solidFill>
                      <a:srgbClr val="1E5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TC"/>
                        </a:rPr>
                        <a:t>說明</a:t>
                      </a:r>
                    </a:p>
                  </a:txBody>
                  <a:tcPr>
                    <a:solidFill>
                      <a:srgbClr val="1E5A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D29"/>
                          </a:solidFill>
                          <a:latin typeface="PingFang TC"/>
                        </a:rPr>
                        <a:t>Coordinator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D29"/>
                          </a:solidFill>
                          <a:latin typeface="PingFang TC"/>
                        </a:rPr>
                        <a:t>對話代理 — 前台調度者，tool-use loop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D29"/>
                          </a:solidFill>
                          <a:latin typeface="PingFang TC"/>
                        </a:rPr>
                        <a:t>Glass Box / Builder</a:t>
                      </a:r>
                    </a:p>
                  </a:txBody>
                  <a:tcPr>
                    <a:solidFill>
                      <a:srgbClr val="F0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D29"/>
                          </a:solidFill>
                          <a:latin typeface="PingFang TC"/>
                        </a:rPr>
                        <a:t>透明逐積木建構（相對於黑箱 code-gen）</a:t>
                      </a:r>
                    </a:p>
                  </a:txBody>
                  <a:tcPr>
                    <a:solidFill>
                      <a:srgbClr val="F0EFE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D29"/>
                          </a:solidFill>
                          <a:latin typeface="PingFang TC"/>
                        </a:rPr>
                        <a:t>Phase / goal_plan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D29"/>
                          </a:solidFill>
                          <a:latin typeface="PingFang TC"/>
                        </a:rPr>
                        <a:t>計畫的步驟單位 / Planner 的產出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D29"/>
                          </a:solidFill>
                          <a:latin typeface="PingFang TC"/>
                        </a:rPr>
                        <a:t>Verifier</a:t>
                      </a:r>
                    </a:p>
                  </a:txBody>
                  <a:tcPr>
                    <a:solidFill>
                      <a:srgbClr val="F0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D29"/>
                          </a:solidFill>
                          <a:latin typeface="PingFang TC"/>
                        </a:rPr>
                        <a:t>每輪裁決 build 是否前進的確定性檢查</a:t>
                      </a:r>
                    </a:p>
                  </a:txBody>
                  <a:tcPr>
                    <a:solidFill>
                      <a:srgbClr val="F0EFE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D29"/>
                          </a:solidFill>
                          <a:latin typeface="PingFang TC"/>
                        </a:rPr>
                        <a:t>成品目檢 (result-vision)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D29"/>
                          </a:solidFill>
                          <a:latin typeface="PingFang TC"/>
                        </a:rPr>
                        <a:t>完工前 headless 截圖給 vision judge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D29"/>
                          </a:solidFill>
                          <a:latin typeface="PingFang TC"/>
                        </a:rPr>
                        <a:t>標準 Skill</a:t>
                      </a:r>
                    </a:p>
                  </a:txBody>
                  <a:tcPr>
                    <a:solidFill>
                      <a:srgbClr val="F0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D29"/>
                          </a:solidFill>
                          <a:latin typeface="PingFang TC"/>
                        </a:rPr>
                        <a:t>教 Coordinator 做事的說明書（DB 可編）</a:t>
                      </a:r>
                    </a:p>
                  </a:txBody>
                  <a:tcPr>
                    <a:solidFill>
                      <a:srgbClr val="F0EFE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D29"/>
                          </a:solidFill>
                          <a:latin typeface="PingFang TC"/>
                        </a:rPr>
                        <a:t>Domain Skill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D29"/>
                          </a:solidFill>
                          <a:latin typeface="PingFang TC"/>
                        </a:rPr>
                        <a:t>pipeline + 自動化（工具/巡檢/資料檢查）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D29"/>
                          </a:solidFill>
                          <a:latin typeface="PingFang TC"/>
                        </a:rPr>
                        <a:t>確認卡</a:t>
                      </a:r>
                    </a:p>
                  </a:txBody>
                  <a:tcPr>
                    <a:solidFill>
                      <a:srgbClr val="F0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D29"/>
                          </a:solidFill>
                          <a:latin typeface="PingFang TC"/>
                        </a:rPr>
                        <a:t>agent 提議、人按確認、瀏覽器以本人身分執行</a:t>
                      </a:r>
                    </a:p>
                  </a:txBody>
                  <a:tcPr>
                    <a:solidFill>
                      <a:srgbClr val="F0EFE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D29"/>
                          </a:solidFill>
                          <a:latin typeface="PingFang TC"/>
                        </a:rPr>
                        <a:t>W1 偏好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D29"/>
                          </a:solidFill>
                          <a:latin typeface="PingFang TC"/>
                        </a:rPr>
                        <a:t>計畫卡上的人工編輯學成的個人偏好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D29"/>
                          </a:solidFill>
                          <a:latin typeface="PingFang TC"/>
                        </a:rPr>
                        <a:t>Episode / Trace</a:t>
                      </a:r>
                    </a:p>
                  </a:txBody>
                  <a:tcPr>
                    <a:solidFill>
                      <a:srgbClr val="F0EF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D29"/>
                          </a:solidFill>
                          <a:latin typeface="PingFang TC"/>
                        </a:rPr>
                        <a:t>一次 agent 活動的觀測紀錄 / build 全過程回放</a:t>
                      </a:r>
                    </a:p>
                  </a:txBody>
                  <a:tcPr>
                    <a:solidFill>
                      <a:srgbClr val="F0EFE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070"/>
                </a:solidFill>
                <a:latin typeface="PingFang TC"/>
              </a:rPr>
              <a:t>AIOps Multi-Agent Platform ・ 名詞表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070"/>
                </a:solidFill>
                <a:latin typeface="PingFang TC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07A1E"/>
                </a:solidFill>
                <a:latin typeface="PingFang TC"/>
              </a:rPr>
              <a:t>附錄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D29"/>
                </a:solidFill>
                <a:latin typeface="PingFang TC"/>
              </a:rPr>
              <a:t>附錄：文件與工具索引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10029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A1D29"/>
                </a:solidFill>
                <a:latin typeface="PingFang TC"/>
              </a:rPr>
              <a:t>▸ docs/BLOCKS.md — 58 積木手冊（自動生成）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A1D29"/>
                </a:solidFill>
                <a:latin typeface="PingFang TC"/>
              </a:rPr>
              <a:t>▸ python_ai_sidecar/tests/test_blocks_core.py — 積木行為測試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A1D29"/>
                </a:solidFill>
                <a:latin typeface="PingFang TC"/>
              </a:rPr>
              <a:t>▸ tools/regression_pack/run.sh — 一鍵回歸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A1D29"/>
                </a:solidFill>
                <a:latin typeface="PingFang TC"/>
              </a:rPr>
              <a:t>▸ tools/result_render/ — 成品目檢渲染（README 含校準紀錄）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A1D29"/>
                </a:solidFill>
                <a:latin typeface="PingFang TC"/>
              </a:rPr>
              <a:t>▸ agents/README.md — 代理套件邊界鐵律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A1D29"/>
                </a:solidFill>
                <a:latin typeface="PingFang TC"/>
              </a:rPr>
              <a:t>▸ 待驗證清單（隨波更新）— claude.ai artifact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A1D29"/>
                </a:solidFill>
                <a:latin typeface="PingFang TC"/>
              </a:rPr>
              <a:t>▸ GitHub: gillggx/ai-ops-agentic-platform（main）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070"/>
                </a:solidFill>
                <a:latin typeface="PingFang TC"/>
              </a:rPr>
              <a:t>AIOps Multi-Agent Platform ・ 索引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070"/>
                </a:solidFill>
                <a:latin typeface="PingFang TC"/>
              </a:rPr>
              <a:t>41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