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9DC0FF"/>
                </a:solidFill>
                <a:latin typeface="Microsoft JhengHei"/>
              </a:rPr>
              <a:t>LLM 選型 · 建構模式評估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</a:rPr>
              <a:t>智能 Pipeline 建構方案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EDCF5"/>
                </a:solidFill>
                <a:latin typeface="Microsoft JhengHei"/>
              </a:rPr>
              <a:t>KIMI vs GLM-5.2　＋　cowork vs 自研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兩個決策、一份報告：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EDCF5"/>
                </a:solidFill>
                <a:latin typeface="Microsoft JhengHei"/>
              </a:rPr>
              <a:t>Q1  哪個 LLM 驅動我們的 builder agent — KIMI K2.5 還是 GLM-5.2？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EDCF5"/>
                </a:solidFill>
                <a:latin typeface="Microsoft JhengHei"/>
              </a:rPr>
              <a:t>Q2  我們該繼續自研 agent，還是改用 cowork（Claude Desktop + MCP）建 pipeline？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67085"/>
                </a:solidFill>
                <a:latin typeface="Microsoft JhengHei"/>
              </a:rPr>
              <a:t>資料來源：SLASH-17 端到端驗證（2026-06-25）· Remote MCP e2e 驗證（2026-06-26）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EXECUTIVE 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結論先講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94960" cy="109728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67085"/>
                </a:solidFill>
                <a:latin typeface="Microsoft JhengHei"/>
              </a:rPr>
              <a:t>Q1 — LLM 選型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67647"/>
                </a:solidFill>
                <a:latin typeface="Microsoft JhengHei"/>
              </a:rPr>
              <a:t>GLM-5.2 勝出，已上 Prod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48920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寬鬆功能標準 17/17 vs KIMI 15/17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跑完全套快 61%（28 vs 73 分）、少 29% 呼叫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Prompt cache 40-58% vs KIMI 實測 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切換點：sidecar .env 一行（OLLAMA_MODEL）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41732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1417320"/>
            <a:ext cx="539496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4592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67085"/>
                </a:solidFill>
                <a:latin typeface="Microsoft JhengHei"/>
              </a:rPr>
              <a:t>Q2 — 建構模式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D4ED8"/>
                </a:solidFill>
                <a:latin typeface="Microsoft JhengHei"/>
              </a:rPr>
              <a:t>雙軌，不是二選一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651760"/>
            <a:ext cx="48920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自研 agent = 嵌入產品的『生產面』，flow 可控、可測、可治理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cowork = 強推理的『共創 / authoring 面』，適合探索與打樣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cowork 不可直接執行危險動作 → 已建 UI-handoff 橋接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50" b="0" i="0">
                <a:solidFill>
                  <a:srgbClr val="1F2933"/>
                </a:solidFill>
                <a:latin typeface="Microsoft JhengHei"/>
              </a:rPr>
              <a:t>Fab 資料外送、不可測、vendor lock 是 cowork 的硬限制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28016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9DC0FF"/>
                </a:solidFill>
                <a:latin typeface="Microsoft JhengHei"/>
              </a:rPr>
              <a:t>PART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JhengHei"/>
              </a:rPr>
              <a:t>LLM 選型：KIMI K2.5 vs GLM-5.2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EDCF5"/>
                </a:solidFill>
                <a:latin typeface="Microsoft JhengHei"/>
              </a:rPr>
              <a:t>『哪個模型驅動我們自研的 builder agent』— 用 SLASH-17（17 條 production 指令）端到端驗證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1 · 前提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我們的 builder 是什麼樣的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CEDCF5"/>
                </a:solidFill>
                <a:latin typeface="Microsoft JhengHei"/>
              </a:rPr>
              <a:t>graph-driven、逐 round 動作的 ReAct agent；對 LLM 的要求與一般 chat 不同 — 這決定了選型標準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09960" cy="53492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JhengHe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JhengHei"/>
              </a:rPr>
              <a:t>對 LLM 的特性需求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JhengHei"/>
              </a:rPr>
              <a:t>為什麼 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52243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52243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逐 round function calling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52243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每 round 只發 1 個 tool call；tool-call 不穩，整條建構崩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1109960" cy="5349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結構化 JSON 輸出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87168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goal_plan 出 3-7 phase JSON；parse 失敗就 retry / 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22091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22091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長多步推理（≤32 round/phase）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22091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每 round 看 13 段大 observation（含整個 block catalog），要跨 round 連貫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57015"/>
            <a:ext cx="11109960" cy="5349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57015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57015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中英混雜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557015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prompt + 機台指令雙語（中位數/median、偵測/找出 同義變形）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91939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91939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composite / fleet block 接線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91939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list_objects→mcp_foreach 全廠 fan-out、spc_panel 複合 — 最難推理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26864"/>
            <a:ext cx="11109960" cy="5349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26864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26864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prompt-cache 友善（成本）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26864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大 observation prefix 每 round 重複；cache 命中率 = 成本主槓桿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161788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61788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果斷、不過度建構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61788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該用 minimal pipeline，別亂加 node（verbose catalog 會誘發 over-build）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96712"/>
            <a:ext cx="11109960" cy="5349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696712"/>
            <a:ext cx="50292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696712"/>
            <a:ext cx="365760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自我修正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696712"/>
            <a:ext cx="69494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回應 verifier reject、改參數 / 重接線，不要繞圈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1412748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1947672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2482596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3017520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3552444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087368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622292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157216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692140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6227064"/>
            <a:ext cx="1110996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1 · 契合度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KIMI vs GLM：對這些特性的契合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42062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371600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KIMI K2.5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371600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GLM-5.2 @ Fireworks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1371600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 · tool calling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92224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需 XML 解析補（native 較弱）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92224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native function-calling 紮實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1792224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4ED8"/>
                </a:solidFill>
                <a:latin typeface="Microsoft JhengHei"/>
              </a:rPr>
              <a:t>GLM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12848"/>
            <a:ext cx="11155680" cy="4206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12848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 · JSON 輸出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12848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12848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OK、更精簡（output token 少一半）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2212848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67085"/>
                </a:solidFill>
                <a:latin typeface="Microsoft JhengHei"/>
              </a:rPr>
              <a:t>平/GLM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33472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3 · 長多步推理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33472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較囉嗦（229 round/17）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33472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reasoning 模型，少 29%（163）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633472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4ED8"/>
                </a:solidFill>
                <a:latin typeface="Microsoft JhengHei"/>
              </a:rPr>
              <a:t>GLM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54096"/>
            <a:ext cx="11155680" cy="4206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54096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4 · 中英混雜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054096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強（中文母語級）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054096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強（中文母語級）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2760" y="3054096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67085"/>
                </a:solidFill>
                <a:latin typeface="Microsoft JhengHei"/>
              </a:rPr>
              <a:t>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74720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 · composite/fleet 接線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74720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會掙扎（系統弱點）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474720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會掙扎、且 run-to-run 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3474720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67085"/>
                </a:solidFill>
                <a:latin typeface="Microsoft JhengHei"/>
              </a:rPr>
              <a:t>平(都弱)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895344"/>
            <a:ext cx="11155680" cy="4206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95344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6 · prompt-cache（成本）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895344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實測 cache =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895344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cache 40-58%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3895344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4ED8"/>
                </a:solidFill>
                <a:latin typeface="Microsoft JhengHei"/>
              </a:rPr>
              <a:t>GLM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15968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7 · 果斷/不過度建構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315968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慢、call 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315968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快、但偶 over-build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4315968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67085"/>
                </a:solidFill>
                <a:latin typeface="Microsoft JhengHei"/>
              </a:rPr>
              <a:t>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736592"/>
            <a:ext cx="11155680" cy="4206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736592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8 · 自我修正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736592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會做、慢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736592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會做、turnaround 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4736592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4ED8"/>
                </a:solidFill>
                <a:latin typeface="Microsoft JhengHei"/>
              </a:rPr>
              <a:t>GLM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157216"/>
            <a:ext cx="28346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速度（builder UX）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5157216"/>
            <a:ext cx="3383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110-533s / 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157216"/>
            <a:ext cx="3931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28-142s / 案（快 2-4×）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60" y="5157216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4ED8"/>
                </a:solidFill>
                <a:latin typeface="Microsoft JhengHei"/>
              </a:rPr>
              <a:t>GLM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1367028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1787652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2208276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2628900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3049524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3470148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3890772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311396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4732020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52644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5573268"/>
            <a:ext cx="111556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1 · 結果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SLASH-17 端到端驗證 — 四個關鍵數字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CEDCF5"/>
                </a:solidFill>
                <a:latin typeface="Microsoft JhengHei"/>
              </a:rPr>
              <a:t>17 條 production builder 指令、同一套設定、人工標註功能可用性（寬鬆 = 建成 + 型態正確 + 抓到核心意圖）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706624" cy="9144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234086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67085"/>
                </a:solidFill>
                <a:latin typeface="Microsoft JhengHei"/>
              </a:rPr>
              <a:t>寬鬆通過（功能可用）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1828"/>
                </a:solidFill>
                <a:latin typeface="Microsoft JhengHei"/>
              </a:rPr>
              <a:t>17/17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67085"/>
                </a:solidFill>
                <a:latin typeface="Microsoft JhengHei"/>
              </a:rPr>
              <a:t>vs 15/17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647"/>
                </a:solidFill>
                <a:latin typeface="Microsoft JhengHei"/>
              </a:rPr>
              <a:t>GLM 修掉 KIMI 兩個實質錯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16002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4136" y="1600200"/>
            <a:ext cx="2706624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828800"/>
            <a:ext cx="234086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67085"/>
                </a:solidFill>
                <a:latin typeface="Microsoft JhengHei"/>
              </a:rPr>
              <a:t>跑完全套耗時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1828"/>
                </a:solidFill>
                <a:latin typeface="Microsoft JhengHei"/>
              </a:rPr>
              <a:t>28 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67085"/>
                </a:solidFill>
                <a:latin typeface="Microsoft JhengHei"/>
              </a:rPr>
              <a:t>vs 73 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GLM 快 61%（2.6×）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6002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600200"/>
            <a:ext cx="2706624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34086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67085"/>
                </a:solidFill>
                <a:latin typeface="Microsoft JhengHei"/>
              </a:rPr>
              <a:t>總 LLM 呼叫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1828"/>
                </a:solidFill>
                <a:latin typeface="Microsoft JhengHei"/>
              </a:rPr>
              <a:t>163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67085"/>
                </a:solidFill>
                <a:latin typeface="Microsoft JhengHei"/>
              </a:rPr>
              <a:t>vs 229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GLM 少 29%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16568" y="16002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16568" y="1600200"/>
            <a:ext cx="2706624" cy="9144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1828800"/>
            <a:ext cx="234086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67085"/>
                </a:solidFill>
                <a:latin typeface="Microsoft JhengHei"/>
              </a:rPr>
              <a:t>Prompt cache 命中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1828"/>
                </a:solidFill>
                <a:latin typeface="Microsoft JhengHei"/>
              </a:rPr>
              <a:t>40-58%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67085"/>
                </a:solidFill>
                <a:latin typeface="Microsoft JhengHei"/>
              </a:rPr>
              <a:t>vs 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647"/>
                </a:solidFill>
                <a:latin typeface="Microsoft JhengHei"/>
              </a:rPr>
              <a:t>KIMI@Fireworks 實測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14800"/>
            <a:ext cx="11183112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關鍵讀法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KIMI 兩個 failed 是型態 / 分析的實質錯：</a:t>
            </a:r>
            <a:r>
              <a:rPr sz="1300" b="1" i="0">
                <a:solidFill>
                  <a:srgbClr val="B42318"/>
                </a:solidFill>
                <a:latin typeface="Microsoft JhengHei"/>
              </a:rPr>
              <a:t>spc-xbar-r-pair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 畫了折線而非管制圖、</a:t>
            </a:r>
            <a:r>
              <a:rPr sz="1300" b="1" i="0">
                <a:solidFill>
                  <a:srgbClr val="B42318"/>
                </a:solidFill>
                <a:latin typeface="Microsoft JhengHei"/>
              </a:rPr>
              <a:t>apc-drift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 漏了 drift 判定 — GLM 這兩案都做對。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GLM 在嚴格 golden 標準下的失分（ooc-pareto / ooc-ranking）多為『缺排序』，功能上可用、且 KIMI 同樣中招。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1 · 每案明細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代表性案例：呼叫次數 / 耗時 / 寬鬆判定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698480" cy="41148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3716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KIMI 呼叫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716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KIMI 耗時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137160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KIMI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13716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GLM 呼叫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3716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GLM 耗時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37160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icrosoft JhengHei"/>
              </a:rPr>
              <a:t>GLM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spc-xbar-r-pair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7830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830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119s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178308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JhengHei"/>
              </a:rPr>
              <a:t>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17830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7830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78308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194560"/>
            <a:ext cx="1069848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945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apc-drift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1945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945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403s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19456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JhengHei"/>
              </a:rPr>
              <a:t>failed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21945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1945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127s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9456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6060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apc-trend（最極端）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6060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6060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533s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0604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26060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6060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44s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60604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017520"/>
            <a:ext cx="1069848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0175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apc-recipe-compare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0175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0175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217s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301752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59" y="30175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30175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55s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01752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4290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spc-drift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4290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34290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236s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59" y="342900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59" y="34290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342900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51s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342900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840480"/>
            <a:ext cx="1069848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404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ooc-ranking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38404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8404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448s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59" y="384048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38404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80" y="384048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120s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84048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42519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patrol-status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2519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2519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366s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59" y="425196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42519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425196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205s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425196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663440"/>
            <a:ext cx="1069848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6634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spc-ooc（GLM 較慢案）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120" y="46634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63440" y="46634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263s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80759" y="466344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59" y="46634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80" y="466344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288s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466344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7647"/>
                </a:solidFill>
                <a:latin typeface="Microsoft JhengHei"/>
              </a:rPr>
              <a:t>success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50749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總計（17 案）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50749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50749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73 min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80759" y="507492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01828"/>
                </a:solidFill>
                <a:latin typeface="Microsoft JhengHei"/>
              </a:rPr>
              <a:t>15/17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59" y="50749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163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5074920"/>
            <a:ext cx="1417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F2933"/>
                </a:solidFill>
                <a:latin typeface="Microsoft JhengHei"/>
              </a:rPr>
              <a:t>28 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0" y="5074920"/>
            <a:ext cx="1143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4ED8"/>
                </a:solidFill>
                <a:latin typeface="Microsoft JhengHei"/>
              </a:rPr>
              <a:t>17/17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136702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2920" y="177850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02920" y="218998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2920" y="260146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2920" y="301294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02920" y="342442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02920" y="383590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2920" y="424738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02920" y="465886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02920" y="507034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2920" y="5481828"/>
            <a:ext cx="10698480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67085"/>
                </a:solidFill>
                <a:latin typeface="Microsoft JhengHei"/>
              </a:rPr>
              <a:t>平均/案 — KIMI：13.5 call · 257s ｜ GLM：9.6 call · 100s。最極端 apc-trend：GLM 5 call/44s vs KIMI 40 call/533s。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1 · 結論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GLM-5.2 勝出 — 已切換 Prod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83112" cy="1078992"/>
          </a:xfrm>
          <a:prstGeom prst="rect">
            <a:avLst/>
          </a:prstGeom>
          <a:solidFill>
            <a:srgbClr val="FFFAEB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嚴格標準（golden 全中）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兩者接近 ~14/17。KIMI 穩定，GLM 有 run-to-run 變異（12-15）。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70048"/>
            <a:ext cx="11183112" cy="1078992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79776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寬鬆標準（功能可用）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GLM 17/17 略勝 KIMI 15/17 — GLM 修掉 KIMI 兩個實質錯；GLM 失分多為 golden 過嚴或系統共通弱點（sort / fleet）。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77056"/>
            <a:ext cx="11183112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86784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效率與成本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GLM 少 29% 呼叫、跑完全套快 61%；cache 40-58% vs KIMI 實測 0% → 成本不輸還更穩。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084064"/>
            <a:ext cx="11183112" cy="1078992"/>
          </a:xfrm>
          <a:prstGeom prst="rect">
            <a:avLst/>
          </a:prstGeom>
          <a:solidFill>
            <a:srgbClr val="FFFAEB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93792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待管理的唯一風險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GLM 的 run-to-run 變異 → 以 hardening（phase 拆原子 / fleet hint / spc_panel fallback）壓低，這些對 KIMI 同樣有益。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09360"/>
            <a:ext cx="11183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決策：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已切換 prod 至 GLM-5.2 @ Fireworks @ reasoning medium。切換點 = sidecar .env 一行（OLLAMA_MODEL + OPENROUTER_PROVIDER_ORDER），可一鍵回退。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28016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9DC0FF"/>
                </a:solidFill>
                <a:latin typeface="Microsoft JhengHei"/>
              </a:rPr>
              <a:t>PART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JhengHei"/>
              </a:rPr>
              <a:t>建構模式：cowork vs 自研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EDCF5"/>
                </a:solidFill>
                <a:latin typeface="Microsoft JhengHei"/>
              </a:rPr>
              <a:t>『要不要改用 cowork（Claude Desktop + 我們的 Remote MCP）來建 pipeline，取代自研 builder？』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2 · 兩種模式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同一個目標、兩條路徑：誰來『推理建構』？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A · 自研 Agent（現行 Prod）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LLM：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GLM-5.2 @ Fireworks（我們選的）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架構：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LangGraph 圖驅動 — goal_plan → agentic_phase_loop → phase_verifier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位置：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跑在我們 sidecar，內嵌 Glass Box GUI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流程：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deterministic — 每步 graph node 決定，可單測、可 trace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資料：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留在我們基礎設施內，只送 prompt 給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417320"/>
            <a:ext cx="54864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5486400" cy="4572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63040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</a:rPr>
              <a:t>B · cowork（Claude Desktop + MCP）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8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LLM：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Claude（使用者 Claude 訂閱裡的 Opus/Sonnet）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架構：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Claude 像人一樣用我們 MCP 6+11 個工具自由推理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位置：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Claude Desktop（外部 App），透過 Remote MCP 連回 EC2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流程：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Claude 自由意志 — 我們只能用 tool description 引導，不能強制 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資料：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block catalog + 資料 preview 送到 Anthropic 雲端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2 · 維度對比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九個維度的正面交鋒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4572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716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自研 Agent 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3716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cowork 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13716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</a:rPr>
              <a:t>誰強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模型推理力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8288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GLM-5.2 中上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Claude 旗艦、明顯更強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18288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4D"/>
                </a:solidFill>
                <a:latin typeface="Microsoft JhengHei"/>
              </a:rPr>
              <a:t>cowork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1118311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860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流程可控 / 可測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86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graph 決定、可單測、有 BuildTracer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860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Claude 自由意志、不可 trace 內部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22860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JhengHei"/>
              </a:rPr>
              <a:t>自研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產品整合 /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7432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內嵌 Glass Box、即時 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外部 App、需切換、靠 handoff 橋接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27432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JhengHei"/>
              </a:rPr>
              <a:t>自研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00400"/>
            <a:ext cx="1118311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004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每次建構成本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2004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我們付 ~$0.1-0.4/案（OpenRouter）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2004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對我們 $0；但每人需 Claude 訂閱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32004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67085"/>
                </a:solidFill>
                <a:latin typeface="Microsoft JhengHei"/>
              </a:rPr>
              <a:t>看情境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576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治理 / 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6576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跑在我們 authz 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不可直接執行危險動作 → UI-handoff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36576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JhengHei"/>
              </a:rPr>
              <a:t>自研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14800"/>
            <a:ext cx="1118311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114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資料外送（Fab 關鍵）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1148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只送 prompt，可控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1148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互動 + 資料 preview 進 Anthropic 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41148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JhengHei"/>
              </a:rPr>
              <a:t>自研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5720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維運負擔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572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整條 graph+prompt+選型都我們扛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5720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模型由 Anthropic 維護，我們只維 MCP 薄層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45720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4D"/>
                </a:solidFill>
                <a:latin typeface="Microsoft JhengHei"/>
              </a:rPr>
              <a:t>cowork 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029200"/>
            <a:ext cx="1118311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0292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難題（composite/fleet）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0292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會掙扎（系統弱點）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0292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Claude 較可能一次到位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50292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4D"/>
                </a:solidFill>
                <a:latin typeface="Microsoft JhengHei"/>
              </a:rPr>
              <a:t>cowork 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4864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vendor lock / 可用性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54864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我們完全掌控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4864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Microsoft JhengHei"/>
              </a:rPr>
              <a:t>綁 Anthropic 雲 + Desktop remote-MCP（仍在演進）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5486400"/>
            <a:ext cx="11247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JhengHei"/>
              </a:rPr>
              <a:t>自研 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13670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18242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22814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27386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31958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36530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41102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5674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50246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4818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593902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2 · cowork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cowork（Claude Desktop + MCP）優缺點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709160"/>
          </a:xfrm>
          <a:prstGeom prst="rect">
            <a:avLst/>
          </a:prstGeom>
          <a:solidFill>
            <a:srgbClr val="ECFDF3"/>
          </a:solidFill>
          <a:ln w="12700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67647"/>
                </a:solidFill>
                <a:latin typeface="Microsoft JhengHei"/>
              </a:rPr>
              <a:t>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頂級推理力 — Claude 旗艦處理 composite / fleet 這類我們 agent 會掙扎的難題，較可能一次到位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對我們零每案成本 — 算在使用者自己的 Claude 訂閱，不進我們 OpenRouter 帳單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維運薄 — 模型由 Anthropic 維護升級，我們只維 MCP 工具層（6+11 工具）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天生會探索 — 像人一樣 discover→preview→assemble→validate，適合打樣與共創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升級免費搭便車 — Anthropic 換更強模型，我們不動 code 就受惠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417320"/>
            <a:ext cx="5486400" cy="4709160"/>
          </a:xfrm>
          <a:prstGeom prst="rect">
            <a:avLst/>
          </a:prstGeom>
          <a:solidFill>
            <a:srgbClr val="FEF3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Microsoft JhengHei"/>
              </a:rPr>
              <a:t>缺點 / 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資料外送 — block catalog + 資料 preview 進 Anthropic 雲；半導體 Fab 的 data egress / air-gap 是硬限制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流程不可控 — Claude 自由意志，我們只能用 tool desc 引導，無法強制 flow（違反『flow 寫 graph 不寫 prompt』原則）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不可測 / 不可 trace — 沒有 BuildTracer、無法做 17-case 回歸；出錯只能猜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需危險動作橋接 — 刪/停/啟用 rule 不能由 MCP 執行 → 必須走我們的 UI-handoff 人工確認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vendor lock + 成熟度 — 綁 Anthropic 雲、Desktop remote-MCP 認證仍只到 secret-path；每位操作員要 Claude 帳號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2 · 自研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自研 Agent（GLM-5.2 builder）優缺點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709160"/>
          </a:xfrm>
          <a:prstGeom prst="rect">
            <a:avLst/>
          </a:prstGeom>
          <a:solidFill>
            <a:srgbClr val="ECFDF3"/>
          </a:solidFill>
          <a:ln w="12700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67647"/>
                </a:solidFill>
                <a:latin typeface="Microsoft JhengHei"/>
              </a:rPr>
              <a:t>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流程完全可控 — graph node 決定每一步，pure function 可單測；出錯知道是哪個 node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可測 / 可回歸 — BuildTracer + trace_replay + verify-build；17-case 端到端基準隨時重跑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深度產品整合 — 內嵌 Glass Box GUI、即時 canvas，使用者不離開系統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資料留內網 — 只送 prompt 給 LLM，符合 Fab 資料治理；模型可換、甚至未來自架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＋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治理內建 — 跑在我們 authz / role 內，危險動作天然受控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417320"/>
            <a:ext cx="5486400" cy="4709160"/>
          </a:xfrm>
          <a:prstGeom prst="rect">
            <a:avLst/>
          </a:prstGeom>
          <a:solidFill>
            <a:srgbClr val="FEF3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Microsoft JhengHei"/>
              </a:rPr>
              <a:t>缺點 / 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推理力天花板 — GLM-5.2 在 composite / fleet 難題會掙扎，且有 run-to-run 變異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維運全包 — graph + prompt + 選型 + cost tuning 都要我們自己扛與調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每案有成本 — ~$0.1-0.4/案進我們 OpenRouter 帳單（雖遠低於 cowork 的 per-seat）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模型升級要自己追 — 換更強模型需重跑 bake-off、重調 prompt / hardening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B42318"/>
                </a:solidFill>
                <a:latin typeface="Microsoft JhengHei"/>
              </a:rPr>
              <a:t>－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難題需持續 hardening — fleet hint、spc_panel fallback、phase 拆原子等要人力投入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2 · 成本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成本模型不同維度 — per-build vs per-seat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83112" cy="5669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1463040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自研 Agent 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463040"/>
            <a:ext cx="40507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cowork 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計費對象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029968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我們（OpenRouter / Fireworks）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029968"/>
            <a:ext cx="40507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使用者自己的 Claude 訂閱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96896"/>
            <a:ext cx="11183112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96896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每次建構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596896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~$0.1 – $0.4 / 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596896"/>
            <a:ext cx="40507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對我們 $0（算在對方訂閱額度）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63824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固定成本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3163824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0 額外席位；模型隨用隨付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163824"/>
            <a:ext cx="40507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每位操作員需 Claude Pro/Team 席位（~$20-30/人/月）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30752"/>
            <a:ext cx="11183112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30752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規模化拐點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39" y="3730752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用量越大、總額線性成長但單價低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730752"/>
            <a:ext cx="40507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人數越多、席位成本越高；少數 power-user 才划算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97680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成本可預測性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4297680"/>
            <a:ext cx="4572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高 — 我們掌控模型與 cache（命中 40-58%）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297680"/>
            <a:ext cx="40507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低 — 取決於對方 plan 與 Anthropic 定價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45846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025396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592324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159252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726180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29310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860036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11183112" cy="960120"/>
          </a:xfrm>
          <a:prstGeom prst="rect">
            <a:avLst/>
          </a:prstGeom>
          <a:solidFill>
            <a:srgbClr val="FFFA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54708"/>
                </a:solidFill>
                <a:latin typeface="Microsoft JhengHei"/>
              </a:rPr>
              <a:t>讀法：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兩者不是同一種錢。自研是『我們付、單價低、隨量成長』；cowork 是『使用者付、我們零邊際成本，但要人手一個 Claude 席位』。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→ 全廠操作員規模下 per-seat 會超過 per-build；少數工程師打樣 / 共創時 cowork 反而便宜。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2 · 治理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為什麼 cowork 不能直接動產線 — 我們的 UI-handoff 橋接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</a:pPr>
            <a:r>
              <a:rPr sz="1200" b="0" i="0">
                <a:solidFill>
                  <a:srgbClr val="CEDCF5"/>
                </a:solidFill>
                <a:latin typeface="Microsoft JhengHei"/>
              </a:rPr>
              <a:t>cowork 可以『建議』，但刪 / 停 / 啟用 rule 這類危險動作，必須回到我們系統由人確認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7066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706624" cy="64008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270662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14600"/>
            <a:ext cx="230428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1F4D"/>
                </a:solidFill>
                <a:latin typeface="Microsoft JhengHei"/>
              </a:rPr>
              <a:t>cowork 提議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Claude 透過 MCP 呼叫 rule_request_delete / disable / activate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292608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691640"/>
            <a:ext cx="27066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691640"/>
            <a:ext cx="2706624" cy="64008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737360"/>
            <a:ext cx="270662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514600"/>
            <a:ext cx="230428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回傳 PENDING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工具回 executed=false、PENDING_USER_CONFIRMATION + launch_url；不執行任何事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2608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691640"/>
            <a:ext cx="27066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691640"/>
            <a:ext cx="2706624" cy="640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1737360"/>
            <a:ext cx="270662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30428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開我們 GUI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使用者點開獨立確認頁（fit-window、無 app shell），看到影響範圍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5" y="292608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67085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6568" y="1691640"/>
            <a:ext cx="27066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16568" y="1691640"/>
            <a:ext cx="2706624" cy="64008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737360"/>
            <a:ext cx="270662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2514600"/>
            <a:ext cx="230428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67647"/>
                </a:solidFill>
                <a:latin typeface="Microsoft JhengHei"/>
              </a:rPr>
              <a:t>人工確認執行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在我們 authz 內、以登入身份執行 → 才真的刪/停/啟用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29200"/>
            <a:ext cx="11183112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設計原則：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外部 Claude 永遠只是『提案者』，產線級動作的『執行權』鎖在我們 authenticated GUI 內（V63 ui_handoffs）。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1F2933"/>
                </a:solidFill>
                <a:latin typeface="Microsoft JhengHei"/>
              </a:rPr>
              <a:t>這同時補上了 cowork『流程不可控』的缺口 — 危險路徑被 deterministic 地擋在系統邊界。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28016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9DC0FF"/>
                </a:solidFill>
                <a:latin typeface="Microsoft JhengHei"/>
              </a:rPr>
              <a:t>PART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JhengHei"/>
              </a:rPr>
              <a:t>建議與決策矩陣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EDCF5"/>
                </a:solidFill>
                <a:latin typeface="Microsoft JhengHei"/>
              </a:rPr>
              <a:t>不是二選一 — 兩條路各自最適的戰場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3 · 建議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雙軌策略 — 各司其職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8640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Microsoft JhengHei"/>
              </a:rPr>
              <a:t>自研 Agent → 生產面（預設）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83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給：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全廠操作員、ON-DUTY、日常建 pipeline / rule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為何：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可控、可測、可治理、資料留內網、規模化單價低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模型：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GLM-5.2 @ Fireworks（Part 1 結論）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463040"/>
            <a:ext cx="5486400" cy="5029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17904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Microsoft JhengHei"/>
              </a:rPr>
              <a:t>cowork → 共創 / 打樣面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48840"/>
            <a:ext cx="4983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給：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少數工程師 / PE 探索新 pipeline、難題打樣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為何：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頂級推理一次到位 composite/fleet、對我們零邊際成本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828"/>
                </a:solidFill>
                <a:latin typeface="Microsoft JhengHei"/>
              </a:rPr>
              <a:t>護欄：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危險動作一律走 UI-handoff，產線執行權鎖在系統內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349240"/>
            <a:ext cx="11183112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01828"/>
                </a:solidFill>
                <a:latin typeface="Microsoft JhengHei"/>
              </a:rPr>
              <a:t>一句話：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自研 agent 是『內嵌、可控、可測』的生產引擎；cowork 是『強推理、零邊際成本』的共創沙盒。兩者共用同一套 block / pipeline / handoff 基礎設施，互補不互斥。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3 · 決策矩陣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什麼情境用哪個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83112" cy="5669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情境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41732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選擇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417320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全廠操作員日常建 pipeline /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984248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自研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84248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規模化、可控、可治理、資料留內網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51176"/>
            <a:ext cx="11183112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5117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產線級危險動作（刪/停/啟用 rule）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51176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自研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551176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執行權必須鎖在 authenticated GUI（即使 cowork 提案）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1810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需要回歸測試 / SLA 保證的流程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118104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自研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118104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只有自研有 BuildTracer + 17-case 基準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85032"/>
            <a:ext cx="11183112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8503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探索全新 / 複雜 composite·fleet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685032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F4D"/>
                </a:solidFill>
                <a:latin typeface="Microsoft JhengHei"/>
              </a:rPr>
              <a:t>cowork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685032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Claude 旗艦推理較可能一次到位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5196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工程師快速打樣、共創、catalog 探索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25196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F4D"/>
                </a:solidFill>
                <a:latin typeface="Microsoft JhengHei"/>
              </a:rPr>
              <a:t>cowork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251960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互動式探索是 cowork 的天生強項，零邊際成本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18888"/>
            <a:ext cx="11183112" cy="566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1888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嚴格 air-gap / 禁資料外送環境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818888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Microsoft JhengHei"/>
              </a:rPr>
              <a:t>自研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818888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cowork 會把 catalog + preview 送上 Anthropic 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8581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跨團隊知識沈澱（block 文件即文件）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5385816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67085"/>
                </a:solidFill>
                <a:latin typeface="Microsoft JhengHei"/>
              </a:rPr>
              <a:t>兩者皆可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385816"/>
            <a:ext cx="46908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3"/>
                </a:solidFill>
                <a:latin typeface="Microsoft JhengHei"/>
              </a:rPr>
              <a:t>兩者都讀同一份 DB block description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141274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1979676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2546604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113532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680460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247388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814316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381244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948172"/>
            <a:ext cx="11183112" cy="10972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0FF"/>
                </a:solidFill>
                <a:latin typeface="Microsoft JhengHei"/>
              </a:rPr>
              <a:t>PART 3 · 後續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Microsoft JhengHei"/>
              </a:rPr>
              <a:t>風險與下一步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486400" cy="4572000"/>
          </a:xfrm>
          <a:prstGeom prst="rect">
            <a:avLst/>
          </a:prstGeom>
          <a:solidFill>
            <a:srgbClr val="FFFAEB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54708"/>
                </a:solidFill>
                <a:latin typeface="Microsoft JhengHei"/>
              </a:rPr>
              <a:t>待管理風險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GLM run-to-run 變異 → hardening（phase 拆原子 / fleet hint / spc_panel fallback）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cowork 資料外送 → 對 Fab 客戶須明確界定可送 / 不可送的資料範圍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Remote MCP 認證僅 secret-path → 待 Claude Desktop 認證模型成熟升級 OAuth/Bearer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B5470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cowork『流程不可控』→ 靠 UI-handoff 把危險路徑擋在邊界，非 prompt 約束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2512" y="1463040"/>
            <a:ext cx="5486400" cy="45720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002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4ED8"/>
                </a:solidFill>
                <a:latin typeface="Microsoft JhengHei"/>
              </a:rPr>
              <a:t>下一步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1" y="21488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Part 1：維持 GLM-5.2 @ Fireworks，持續以 SLASH-17 監測變異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Part 2：cowork 定位為內部 power-user 工具，不開放全廠 / 不接觸產線執行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成本：每季用 bake-off harness 重評選型（tools/slash17）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D4ED8"/>
                </a:solidFill>
                <a:latin typeface="Microsoft JhengHei"/>
              </a:rPr>
              <a:t>•  </a:t>
            </a:r>
            <a:r>
              <a:rPr sz="1300" b="0" i="0">
                <a:solidFill>
                  <a:srgbClr val="1F2933"/>
                </a:solidFill>
                <a:latin typeface="Microsoft JhengHei"/>
              </a:rPr>
              <a:t>治理：完成 cowork 資料外送白名單 + handoff 稽核軌跡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67085"/>
                </a:solidFill>
                <a:latin typeface="Microsoft JhengHei"/>
              </a:rPr>
              <a:t>Pipeline Builder 智能化方案評估  ·  2026-06  ·  內部決策報告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085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