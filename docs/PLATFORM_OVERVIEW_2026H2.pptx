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9B2A5"/>
                </a:solidFill>
                <a:latin typeface="Consolas"/>
              </a:rPr>
              <a:t>AIOPS PLATFORM · 2026 H2 系統改造 · 給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BFBF9"/>
                </a:solidFill>
                <a:latin typeface="Noto Sans TC"/>
              </a:rPr>
              <a:t>從單一 Agent 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BFBF9"/>
                </a:solidFill>
                <a:latin typeface="Noto Sans TC"/>
              </a:rPr>
              <a:t>治理化的 Multi-Agent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6D0C4"/>
                </a:solidFill>
                <a:latin typeface="Noto Sans TC"/>
              </a:rPr>
              <a:t>多 Agent 分工 · 知識與規則治理 · 記憶三級信任階梯 · 四語系支援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1810512" cy="365760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FC0F5"/>
                </a:solidFill>
                <a:latin typeface="Consolas"/>
              </a:rPr>
              <a:t>Multi-Agent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5074920"/>
            <a:ext cx="2523744" cy="365760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9B3F2"/>
                </a:solidFill>
                <a:latin typeface="Consolas"/>
              </a:rPr>
              <a:t>Knowledge &amp;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2976" y="5074920"/>
            <a:ext cx="1572768" cy="365760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DCB4"/>
                </a:solidFill>
                <a:latin typeface="Consolas"/>
              </a:rPr>
              <a:t>Memory 重構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5074920"/>
            <a:ext cx="978408" cy="365760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FE0CD"/>
                </a:solidFill>
                <a:latin typeface="Consolas"/>
              </a:rPr>
              <a:t>4 語系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5074920"/>
            <a:ext cx="1691640" cy="365760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FE0E9"/>
                </a:solidFill>
                <a:latin typeface="Consolas"/>
              </a:rPr>
              <a:t>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1/7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架構總覽 — 四服務、單一 DB 擁有者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942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7490"/>
                </a:solidFill>
                <a:latin typeface="Consolas"/>
              </a:rPr>
              <a:t>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2494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aiops-app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UI 渲染 + /api/ proxy；不直連 DB/sidecar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52927"/>
            <a:ext cx="10515600" cy="65836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7490"/>
                </a:solidFill>
                <a:latin typeface="Consolas"/>
              </a:rPr>
              <a:t>:8002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aiops-java-api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3580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唯一 DB 擁有者：所有 PostgreSQL 讀寫、auth、治理簽核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02735"/>
            <a:ext cx="10515600" cy="65836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39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7490"/>
                </a:solidFill>
                <a:latin typeface="Consolas"/>
              </a:rPr>
              <a:t>:8050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python_ai_sidecar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785615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所有 Agent 住這裡（chat / builder / Supervisor）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52544"/>
            <a:ext cx="10515600" cy="65836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9884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7490"/>
                </a:solidFill>
                <a:latin typeface="Consolas"/>
              </a:rPr>
              <a:t>:8012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498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ontology-simulator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535424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純資料服務，API 同 production ontology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02352"/>
            <a:ext cx="10515600" cy="65836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4865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7490"/>
                </a:solidFill>
                <a:latin typeface="Consolas"/>
              </a:rPr>
              <a:t>:8003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248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aiops-java-scheduler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28523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排程：Auto-Patrol、記憶生命週期 janitor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solidFill>
            <a:srgbClr val="FBFBF9"/>
          </a:solidFill>
          <a:ln w="19050">
            <a:solidFill>
              <a:srgbClr val="211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9846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資料流原則：</a:t>
            </a:r>
            <a:r>
              <a:rPr sz="1300" b="0">
                <a:solidFill>
                  <a:srgbClr val="6F6A61"/>
                </a:solidFill>
                <a:latin typeface="Noto Sans TC"/>
              </a:rPr>
              <a:t>前端 → Java（業務）→ sidecar（推理）→ simulator（資料）。sidecar 永不直連 PostgreSQL。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Agents 分工 — flow 寫 graph，不寫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377440" cy="60350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48840"/>
            <a:ext cx="8001000" cy="603504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322576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F6A61"/>
                </a:solidFill>
                <a:latin typeface="Noto Sans TC"/>
              </a:rPr>
              <a:t>拆需求成 phase（block-agnostic，只寫 intent）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43784"/>
            <a:ext cx="2377440" cy="603504"/>
          </a:xfrm>
          <a:prstGeom prst="roundRect">
            <a:avLst/>
          </a:prstGeom>
          <a:solidFill>
            <a:srgbClr val="1A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992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843784"/>
            <a:ext cx="8001000" cy="603504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F6A61"/>
                </a:solidFill>
                <a:latin typeface="Noto Sans TC"/>
              </a:rPr>
              <a:t>選 block、填參數、組 DAG（round 預算 + 空回應守門）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38728"/>
            <a:ext cx="2377440" cy="603504"/>
          </a:xfrm>
          <a:prstGeom prst="round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Repair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538728"/>
            <a:ext cx="8001000" cy="603504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712464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F6A61"/>
                </a:solidFill>
                <a:latin typeface="Noto Sans TC"/>
              </a:rPr>
              <a:t>三路對齊診斷、修 canvas（需求 × canvas × 拒因）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33672"/>
            <a:ext cx="2377440" cy="603504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Verifier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233672"/>
            <a:ext cx="8001000" cy="603504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40740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F6A61"/>
                </a:solidFill>
                <a:latin typeface="Noto Sans TC"/>
              </a:rPr>
              <a:t>結構 + 實測驗收 — 零 LLM，純確定性、拒因可單測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28616"/>
            <a:ext cx="2377440" cy="603504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8406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Supervisor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28616"/>
            <a:ext cx="8001000" cy="603504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51023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F6A61"/>
                </a:solidFill>
                <a:latin typeface="Noto Sans TC"/>
              </a:rPr>
              <a:t>平台 SRE + 知識策展人；只有提案權，落地經人簽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641847"/>
            <a:ext cx="10515600" cy="658368"/>
          </a:xfrm>
          <a:prstGeom prst="rect">
            <a:avLst/>
          </a:prstGeom>
          <a:solidFill>
            <a:srgbClr val="FBFBF9"/>
          </a:solidFill>
          <a:ln w="19050">
            <a:solidFill>
              <a:srgbClr val="211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42431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核心原則：</a:t>
            </a:r>
            <a:r>
              <a:rPr sz="1300" b="0">
                <a:solidFill>
                  <a:srgbClr val="6F6A61"/>
                </a:solidFill>
                <a:latin typeface="Noto Sans TC"/>
              </a:rPr>
              <a:t>「下一步做什麼」的決策禁止塞 prompt — LLM 自由意志會違抗規則。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A49E91"/>
                </a:solidFill>
                <a:latin typeface="Noto Sans TC"/>
              </a:rPr>
              <a:t>graph node 是 pure function、可單測；LLM 只在 node 內做分類/抽參/寫答。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知識與規則 — 文件是 LLM 的唯一來源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11F1C"/>
                </a:solidFill>
                <a:latin typeface="Noto Sans TC"/>
              </a:rPr>
              <a:t>Directives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2951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每次回覆必掛的硬規則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295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onsolas"/>
              </a:rPr>
              <a:t>IT_ADMIN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2607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11F1C"/>
                </a:solidFill>
                <a:latin typeface="Noto Sans TC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352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領域知識，RAG 分層取用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35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onsolas"/>
              </a:rPr>
              <a:t>人 +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11F1C"/>
                </a:solidFill>
                <a:latin typeface="Noto Sans TC"/>
              </a:rPr>
              <a:t>Lexicon /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75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行話改寫 + 風格示範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7530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onsolas"/>
              </a:rPr>
              <a:t>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6908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11F1C"/>
                </a:solidFill>
                <a:latin typeface="Noto Sans TC"/>
              </a:rPr>
              <a:t>Block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2153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block 唯一文件來源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21538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onsolas"/>
              </a:rPr>
              <a:t>人終審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46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11F1C"/>
                </a:solidFill>
                <a:latin typeface="Noto Sans TC"/>
              </a:rPr>
              <a:t>MCP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8554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外部資料源唯一文件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8554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Consolas"/>
              </a:rPr>
              <a:t>IT_ADMIN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solidFill>
            <a:srgbClr val="FBFBF9"/>
          </a:solidFill>
          <a:ln w="19050">
            <a:solidFill>
              <a:srgbClr val="211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5046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兩條硬規則：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① 禁止 hardcode 文件到 prompt（一律從 DB 讀 description）—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F6A61"/>
                </a:solidFill>
                <a:latin typeface="Noto Sans TC"/>
              </a:rPr>
              <a:t>   保證前端/Agent/文件三邊一致。② 禁止把 case rule 塞 prompt — 問根因原則，不加規則。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記憶重構 — 三級信任階梯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F6A61"/>
                </a:solidFill>
                <a:latin typeface="Noto Sans TC"/>
              </a:rPr>
              <a:t>可信度遞減、生效門檻遞增：訊號來源決定生效速度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84124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505456"/>
            <a:ext cx="777240" cy="402336"/>
          </a:xfrm>
          <a:prstGeom prst="roundRect">
            <a:avLst/>
          </a:prstGeom>
          <a:solidFill>
            <a:srgbClr val="F3EFFC"/>
          </a:solidFill>
          <a:ln w="1524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6D28D9"/>
                </a:solidFill>
                <a:latin typeface="Consolas"/>
              </a:rP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323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11F1C"/>
                </a:solidFill>
                <a:latin typeface="Noto Sans TC"/>
              </a:rPr>
              <a:t>偏好（Planner）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61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user 親手改 plan — 可信度最高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542032"/>
            <a:ext cx="969264" cy="310896"/>
          </a:xfrm>
          <a:prstGeom prst="roundRect">
            <a:avLst/>
          </a:prstGeom>
          <a:solidFill>
            <a:srgbClr val="F3EFFC"/>
          </a:solidFill>
          <a:ln w="12700">
            <a:solidFill>
              <a:srgbClr val="1A7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1A7F4E"/>
                </a:solidFill>
                <a:latin typeface="Consolas"/>
              </a:rPr>
              <a:t>立即生效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18688"/>
            <a:ext cx="10515600" cy="84124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3438144"/>
            <a:ext cx="777240" cy="402336"/>
          </a:xfrm>
          <a:prstGeom prst="roundRect">
            <a:avLst/>
          </a:prstGeom>
          <a:solidFill>
            <a:srgbClr val="FAF3E2"/>
          </a:solidFill>
          <a:ln w="1524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9A6700"/>
                </a:solidFill>
                <a:latin typeface="Consolas"/>
              </a:rPr>
              <a:t>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649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11F1C"/>
                </a:solidFill>
                <a:latin typeface="Noto Sans TC"/>
              </a:rPr>
              <a:t>便利貼（Builder）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941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agent 踩坑自述 — 改全域文件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474720"/>
            <a:ext cx="1097280" cy="310896"/>
          </a:xfrm>
          <a:prstGeom prst="roundRect">
            <a:avLst/>
          </a:prstGeom>
          <a:solidFill>
            <a:srgbClr val="FAF3E2"/>
          </a:solidFill>
          <a:ln w="12700">
            <a:solidFill>
              <a:srgbClr val="9A6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9A6700"/>
                </a:solidFill>
                <a:latin typeface="Consolas"/>
              </a:rPr>
              <a:t>進待審佇列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51376"/>
            <a:ext cx="10515600" cy="841248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370832"/>
            <a:ext cx="777240" cy="402336"/>
          </a:xfrm>
          <a:prstGeom prst="roundRect">
            <a:avLst/>
          </a:prstGeom>
          <a:solidFill>
            <a:srgbClr val="FDF0EE"/>
          </a:solidFill>
          <a:ln w="1524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B42318"/>
                </a:solidFill>
                <a:latin typeface="Consolas"/>
              </a:rPr>
              <a:t>W3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11F1C"/>
                </a:solidFill>
                <a:latin typeface="Noto Sans TC"/>
              </a:rPr>
              <a:t>修正（Repair）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2686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agent 推論 — 可能只是巧合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407408"/>
            <a:ext cx="1865376" cy="310896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B42318"/>
                </a:solidFill>
                <a:latin typeface="Consolas"/>
              </a:rPr>
              <a:t>draft，不參與檢索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389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1F1C"/>
                </a:solidFill>
                <a:latin typeface="Noto Sans TC"/>
              </a:rPr>
              <a:t>生命週期 </a:t>
            </a:r>
            <a:r>
              <a:rPr sz="1200" b="0">
                <a:solidFill>
                  <a:srgbClr val="0E7490"/>
                </a:solidFill>
                <a:latin typeface="Consolas"/>
              </a:rPr>
              <a:t>draft→active→stale→archived</a:t>
            </a:r>
            <a:r>
              <a:rPr sz="1150" b="0">
                <a:solidFill>
                  <a:srgbClr val="A49E91"/>
                </a:solidFill>
                <a:latin typeface="Noto Sans TC"/>
              </a:rPr>
              <a:t>　·　draft 30d→archived · episodic 90d→stale · preference 零召回 180d→PRUNE · 年審 365d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多語系 — 介面翻譯、資料不翻、對話交給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F6A61"/>
                </a:solidFill>
                <a:latin typeface="Noto Sans TC"/>
              </a:rPr>
              <a:t>繁中 / 簡中 / English / 日本語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29000" cy="310896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4290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32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介面殼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next-intl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cookie-based 無 URL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14 namespace · 繁中為源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4515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GLOSSARY 術語約束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86000"/>
            <a:ext cx="3429000" cy="310896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286000"/>
            <a:ext cx="3429000" cy="548640"/>
          </a:xfrm>
          <a:prstGeom prst="roundRect">
            <a:avLst/>
          </a:prstGeom>
          <a:solidFill>
            <a:srgbClr val="1A7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432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資料值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992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7F4E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tool_id / chart / 記憶內容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7F4E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一律原貌 (source is truth)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09651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7F4E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生成物保持生成語言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64515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7F4E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不回溯翻譯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286000"/>
            <a:ext cx="3429000" cy="310896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2286000"/>
            <a:ext cx="3429000" cy="54864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432304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FBF9"/>
                </a:solidFill>
                <a:latin typeface="Noto Sans TC"/>
              </a:rPr>
              <a:t>LLM 對話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992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回覆跟隨 user 語系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繁中 = prompt byte-identical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9651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日文 です・ます体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4515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D28D9"/>
                </a:solidFill>
                <a:latin typeface="Noto Sans TC"/>
              </a:rPr>
              <a:t>· </a:t>
            </a:r>
            <a:r>
              <a:rPr sz="1250" b="0">
                <a:solidFill>
                  <a:srgbClr val="6F6A61"/>
                </a:solidFill>
                <a:latin typeface="Noto Sans TC"/>
              </a:rPr>
              <a:t>users.locale 跨裝置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設計優勢：</a:t>
            </a:r>
            <a:r>
              <a:rPr sz="1300" b="0">
                <a:solidFill>
                  <a:srgbClr val="6F6A61"/>
                </a:solidFill>
                <a:latin typeface="Noto Sans TC"/>
              </a:rPr>
              <a:t>wire 送 code + 參數、顯示層才翻 → Java/sidecar 完全不用知道有幾種語言，加語系只動前端 catalog。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A49E91"/>
                </a:solidFill>
                <a:latin typeface="Consolas"/>
              </a:rPr>
              <a:t>AIOps 平台改造 · 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11F1C"/>
                </a:solidFill>
                <a:latin typeface="Noto Sans TC"/>
              </a:rPr>
              <a:t>治理閉環 — Supervisor（SRE + 策展人）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F6A61"/>
                </a:solidFill>
                <a:latin typeface="Noto Sans TC"/>
              </a:rPr>
              <a:t>只有提案權，落地一律經人簽核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429000" cy="1051560"/>
          </a:xfrm>
          <a:prstGeom prst="roundRect">
            <a:avLst/>
          </a:prstGeom>
          <a:solidFill>
            <a:srgbClr val="EEF4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onsolas"/>
              </a:rPr>
              <a:t>S1  </a:t>
            </a:r>
            <a:r>
              <a:rPr sz="1400" b="1">
                <a:solidFill>
                  <a:srgbClr val="211F1C"/>
                </a:solidFill>
                <a:latin typeface="Noto Sans TC"/>
              </a:rPr>
              <a:t>執行健康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成功率/rounds/退步偵測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429000" cy="1051560"/>
          </a:xfrm>
          <a:prstGeom prst="roundRect">
            <a:avLst/>
          </a:prstGeom>
          <a:solidFill>
            <a:srgbClr val="F3EFFC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D28D9"/>
                </a:solidFill>
                <a:latin typeface="Consolas"/>
              </a:rPr>
              <a:t>S2  </a:t>
            </a:r>
            <a:r>
              <a:rPr sz="1400" b="1">
                <a:solidFill>
                  <a:srgbClr val="211F1C"/>
                </a:solidFill>
                <a:latin typeface="Noto Sans TC"/>
              </a:rPr>
              <a:t>知識品質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召回命中/W1–W3 佇列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29000" cy="1051560"/>
          </a:xfrm>
          <a:prstGeom prst="roundRect">
            <a:avLst/>
          </a:prstGeom>
          <a:solidFill>
            <a:srgbClr val="E9F5F8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7490"/>
                </a:solidFill>
                <a:latin typeface="Consolas"/>
              </a:rPr>
              <a:t>S3  </a:t>
            </a:r>
            <a:r>
              <a:rPr sz="1400" b="1">
                <a:solidFill>
                  <a:srgbClr val="211F1C"/>
                </a:solidFill>
                <a:latin typeface="Noto Sans TC"/>
              </a:rPr>
              <a:t>成本資源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F6A61"/>
                </a:solidFill>
                <a:latin typeface="Noto Sans TC"/>
              </a:rPr>
              <a:t>花費/cache/空回應率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F1C"/>
                </a:solidFill>
                <a:latin typeface="Noto Sans TC"/>
              </a:rPr>
              <a:t>簽核路由 — 信任階梯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77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ON_DUTY 現場人員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959352"/>
            <a:ext cx="969264" cy="310896"/>
          </a:xfrm>
          <a:prstGeom prst="roundRect">
            <a:avLst/>
          </a:prstGeom>
          <a:solidFill>
            <a:srgbClr val="F3EFFC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6D28D9"/>
                </a:solidFill>
                <a:latin typeface="Consolas"/>
              </a:rPr>
              <a:t>PE 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98678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F6A61"/>
                </a:solidFill>
                <a:latin typeface="Noto Sans TC"/>
              </a:rPr>
              <a:t>驗證現場經驗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8056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Agent 提的（策展、增量）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599432"/>
            <a:ext cx="2249424" cy="310896"/>
          </a:xfrm>
          <a:prstGeom prst="roundRect">
            <a:avLst/>
          </a:prstGeom>
          <a:solidFill>
            <a:srgbClr val="EAF5EE"/>
          </a:solidFill>
          <a:ln w="12700">
            <a:solidFill>
              <a:srgbClr val="1A7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1A7F4E"/>
                </a:solidFill>
                <a:latin typeface="Consolas"/>
              </a:rPr>
              <a:t>Supervisor 自動核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6268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F6A61"/>
                </a:solidFill>
                <a:latin typeface="Noto Sans TC"/>
              </a:rPr>
              <a:t>全程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10515600" cy="548640"/>
          </a:xfrm>
          <a:prstGeom prst="roundRect">
            <a:avLst/>
          </a:prstGeom>
          <a:solidFill>
            <a:srgbClr val="FBFBF9"/>
          </a:solidFill>
          <a:ln w="12700">
            <a:solidFill>
              <a:srgbClr val="E7E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57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1F1C"/>
                </a:solidFill>
                <a:latin typeface="Noto Sans TC"/>
              </a:rPr>
              <a:t>Supervisor 查案 + 刪除/設定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5239512"/>
            <a:ext cx="1481328" cy="310896"/>
          </a:xfrm>
          <a:prstGeom prst="roundRect">
            <a:avLst/>
          </a:prstGeom>
          <a:solidFill>
            <a:srgbClr val="211F1C"/>
          </a:solidFill>
          <a:ln w="12700">
            <a:solidFill>
              <a:srgbClr val="FBF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000" rIns="20000" tIns="10000" bIns="10000"/>
          <a:lstStyle/>
          <a:p>
            <a:pPr algn="ctr"/>
            <a:r>
              <a:rPr sz="1100" b="1">
                <a:solidFill>
                  <a:srgbClr val="FBFBF9"/>
                </a:solidFill>
                <a:latin typeface="Consolas"/>
              </a:rPr>
              <a:t>IT_ADMIN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26694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F6A61"/>
                </a:solidFill>
                <a:latin typeface="Noto Sans TC"/>
              </a:rPr>
              <a:t>平台級 + 刪除留人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11F1C"/>
                </a:solidFill>
                <a:latin typeface="Noto Sans TC"/>
              </a:rPr>
              <a:t>查案防垃圾記憶：</a:t>
            </a:r>
            <a:r>
              <a:rPr sz="1200" b="0">
                <a:solidFill>
                  <a:srgbClr val="A49E91"/>
                </a:solidFill>
                <a:latin typeface="Noto Sans TC"/>
              </a:rPr>
              <a:t>單一 case 不留 · 知識需 ≥3 request + 泛化 · 修文件優先 · 一次巡檢 ≈ 幾美分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9B2A5"/>
                </a:solidFill>
                <a:latin typeface="Consolas"/>
              </a:rPr>
              <a:t>運維速查 · 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BFBF9"/>
                </a:solidFill>
                <a:latin typeface="Noto Sans TC"/>
              </a:rPr>
              <a:t>值班 DevOps 最小操作集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2286000" cy="566928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DCB4"/>
                </a:solidFill>
                <a:latin typeface="Noto Sans TC"/>
              </a:rPr>
              <a:t>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615184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6D0C4"/>
                </a:solidFill>
                <a:latin typeface="Noto Sans TC"/>
              </a:rPr>
              <a:t>update.sh = 前端；java-update.sh = Java+sidecar（改後者必跑）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82112"/>
            <a:ext cx="2286000" cy="566928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2841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DCB4"/>
                </a:solidFill>
                <a:latin typeface="Noto Sans TC"/>
              </a:rPr>
              <a:t>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328416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6D0C4"/>
                </a:solidFill>
                <a:latin typeface="Noto Sans TC"/>
              </a:rPr>
              <a:t>Flyway prod 停用 — 新 V**.sql 手動 psql -f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95344"/>
            <a:ext cx="2286000" cy="566928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DCB4"/>
                </a:solidFill>
                <a:latin typeface="Noto Sans TC"/>
              </a:rPr>
              <a:t>排程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4164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6D0C4"/>
                </a:solidFill>
                <a:latin typeface="Noto Sans TC"/>
              </a:rPr>
              <a:t>記憶 janitor 03:20 · Supervisor forensics 03:40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08576"/>
            <a:ext cx="2286000" cy="566928"/>
          </a:xfrm>
          <a:prstGeom prst="roundRect">
            <a:avLst/>
          </a:prstGeom>
          <a:noFill/>
          <a:ln w="12700">
            <a:solidFill>
              <a:srgbClr val="555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DCB4"/>
                </a:solidFill>
                <a:latin typeface="Noto Sans TC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75488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D6D0C4"/>
                </a:solidFill>
                <a:latin typeface="Noto Sans TC"/>
              </a:rPr>
              <a:t>Java 17 · Spring 3.5.14 · Python 3.11 · Node 20.18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49E91"/>
                </a:solidFill>
                <a:latin typeface="Noto Sans TC"/>
              </a:rPr>
              <a:t>延伸：SUPERVISOR_WALKTHROUGH.html（三個 Agent 的筆記與治理）· 部署細節見 deploy/ 與各服務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