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1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9B2A5"/>
                </a:solidFill>
                <a:latin typeface="Consolas"/>
              </a:rPr>
              <a:t>AIOPS PLATFORM · 2026 H2 系統改造 · 給 DevOps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106070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4200" b="1">
                <a:solidFill>
                  <a:srgbClr val="FBFBF9"/>
                </a:solidFill>
                <a:latin typeface="Noto Sans TC"/>
              </a:rPr>
              <a:t>從單一 Agent 到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4200" b="1">
                <a:solidFill>
                  <a:srgbClr val="FBFBF9"/>
                </a:solidFill>
                <a:latin typeface="Noto Sans TC"/>
              </a:rPr>
              <a:t>治理化的 Multi-Agent 平台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6908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D6D0C4"/>
                </a:solidFill>
                <a:latin typeface="Noto Sans TC"/>
              </a:rPr>
              <a:t>多 Agent 分工 · 知識與規則治理 · 記憶三級信任階梯 · 四語系 · Supervisor 自治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5029200"/>
            <a:ext cx="1810512" cy="365760"/>
          </a:xfrm>
          <a:prstGeom prst="roundRect">
            <a:avLst/>
          </a:prstGeom>
          <a:noFill/>
          <a:ln w="12700">
            <a:solidFill>
              <a:srgbClr val="555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9FC0F5"/>
                </a:solidFill>
                <a:latin typeface="Consolas"/>
              </a:rPr>
              <a:t>Multi-Agent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16352" y="5029200"/>
            <a:ext cx="2523744" cy="365760"/>
          </a:xfrm>
          <a:prstGeom prst="roundRect">
            <a:avLst/>
          </a:prstGeom>
          <a:noFill/>
          <a:ln w="12700">
            <a:solidFill>
              <a:srgbClr val="555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C9B3F2"/>
                </a:solidFill>
                <a:latin typeface="Consolas"/>
              </a:rPr>
              <a:t>Knowledge &amp; Rules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22976" y="5029200"/>
            <a:ext cx="1572768" cy="365760"/>
          </a:xfrm>
          <a:prstGeom prst="roundRect">
            <a:avLst/>
          </a:prstGeom>
          <a:noFill/>
          <a:ln w="12700">
            <a:solidFill>
              <a:srgbClr val="555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0DCB4"/>
                </a:solidFill>
                <a:latin typeface="Consolas"/>
              </a:rPr>
              <a:t>Memory 重構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78624" y="5029200"/>
            <a:ext cx="978408" cy="365760"/>
          </a:xfrm>
          <a:prstGeom prst="roundRect">
            <a:avLst/>
          </a:prstGeom>
          <a:noFill/>
          <a:ln w="12700">
            <a:solidFill>
              <a:srgbClr val="555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BFE0CD"/>
                </a:solidFill>
                <a:latin typeface="Consolas"/>
              </a:rPr>
              <a:t>4 語系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39912" y="5029200"/>
            <a:ext cx="1691640" cy="365760"/>
          </a:xfrm>
          <a:prstGeom prst="roundRect">
            <a:avLst/>
          </a:prstGeom>
          <a:noFill/>
          <a:ln w="12700">
            <a:solidFill>
              <a:srgbClr val="555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BFE0E9"/>
                </a:solidFill>
                <a:latin typeface="Consolas"/>
              </a:rPr>
              <a:t>Supervisor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A49E91"/>
                </a:solidFill>
                <a:latin typeface="Consolas"/>
              </a:rPr>
              <a:t>AIOps 平台改造 · 2/15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211F1C"/>
                </a:solidFill>
                <a:latin typeface="Noto Sans TC"/>
              </a:rPr>
              <a:t>這一輪改造的規模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1790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6F6A61"/>
                </a:solidFill>
                <a:latin typeface="Noto Sans TC"/>
              </a:rPr>
              <a:t>一次把平台推上治理化 — 六個系統面同時重構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94560"/>
            <a:ext cx="3429000" cy="1645920"/>
          </a:xfrm>
          <a:prstGeom prst="roundRect">
            <a:avLst/>
          </a:prstGeom>
          <a:solidFill>
            <a:srgbClr val="FBFBF9"/>
          </a:solidFill>
          <a:ln w="12700">
            <a:solidFill>
              <a:srgbClr val="E7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87168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2563EB"/>
                </a:solidFill>
                <a:latin typeface="Consolas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0128"/>
            <a:ext cx="3429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F6A61"/>
                </a:solidFill>
                <a:latin typeface="Noto Sans TC"/>
              </a:rPr>
              <a:t>語系全站支援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2194560"/>
            <a:ext cx="3429000" cy="1645920"/>
          </a:xfrm>
          <a:prstGeom prst="roundRect">
            <a:avLst/>
          </a:prstGeom>
          <a:solidFill>
            <a:srgbClr val="FBFBF9"/>
          </a:solidFill>
          <a:ln w="12700">
            <a:solidFill>
              <a:srgbClr val="E7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2487168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6D28D9"/>
                </a:solidFill>
                <a:latin typeface="Consolas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3310128"/>
            <a:ext cx="3429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F6A61"/>
                </a:solidFill>
                <a:latin typeface="Noto Sans TC"/>
              </a:rPr>
              <a:t>級記憶信任階梯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2194560"/>
            <a:ext cx="3429000" cy="1645920"/>
          </a:xfrm>
          <a:prstGeom prst="roundRect">
            <a:avLst/>
          </a:prstGeom>
          <a:solidFill>
            <a:srgbClr val="FBFBF9"/>
          </a:solidFill>
          <a:ln w="12700">
            <a:solidFill>
              <a:srgbClr val="E7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2487168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9A6700"/>
                </a:solidFill>
                <a:latin typeface="Consolas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3310128"/>
            <a:ext cx="3429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F6A61"/>
                </a:solidFill>
                <a:latin typeface="Noto Sans TC"/>
              </a:rPr>
              <a:t>類 Supervisor 提案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069079"/>
            <a:ext cx="3429000" cy="1645920"/>
          </a:xfrm>
          <a:prstGeom prst="roundRect">
            <a:avLst/>
          </a:prstGeom>
          <a:solidFill>
            <a:srgbClr val="FBFBF9"/>
          </a:solidFill>
          <a:ln w="12700">
            <a:solidFill>
              <a:srgbClr val="E7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361688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1A7F4E"/>
                </a:solidFill>
                <a:latin typeface="Consolas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184647"/>
            <a:ext cx="3429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F6A61"/>
                </a:solidFill>
                <a:latin typeface="Noto Sans TC"/>
              </a:rPr>
              <a:t>個 Agent 明確分工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34840" y="4069079"/>
            <a:ext cx="3429000" cy="1645920"/>
          </a:xfrm>
          <a:prstGeom prst="roundRect">
            <a:avLst/>
          </a:prstGeom>
          <a:solidFill>
            <a:srgbClr val="FBFBF9"/>
          </a:solidFill>
          <a:ln w="12700">
            <a:solidFill>
              <a:srgbClr val="E7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4840" y="4361688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0E7490"/>
                </a:solidFill>
                <a:latin typeface="Consolas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5184647"/>
            <a:ext cx="3429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F6A61"/>
                </a:solidFill>
                <a:latin typeface="Noto Sans TC"/>
              </a:rPr>
              <a:t>LLM 的 Verifier 驗收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069079"/>
            <a:ext cx="3429000" cy="1645920"/>
          </a:xfrm>
          <a:prstGeom prst="roundRect">
            <a:avLst/>
          </a:prstGeom>
          <a:solidFill>
            <a:srgbClr val="FBFBF9"/>
          </a:solidFill>
          <a:ln w="12700">
            <a:solidFill>
              <a:srgbClr val="E7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0" y="4361688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211F1C"/>
                </a:solidFill>
                <a:latin typeface="Consolas"/>
              </a:rPr>
              <a:t>~$0.03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5184647"/>
            <a:ext cx="3429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F6A61"/>
                </a:solidFill>
                <a:latin typeface="Noto Sans TC"/>
              </a:rPr>
              <a:t>一次巡檢成本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A49E91"/>
                </a:solidFill>
                <a:latin typeface="Consolas"/>
              </a:rPr>
              <a:t>AIOps 平台改造 · 3/15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211F1C"/>
                </a:solidFill>
                <a:latin typeface="Noto Sans TC"/>
              </a:rPr>
              <a:t>架構總覽 — 四服務、單一 DB 擁有者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057400"/>
            <a:ext cx="10515600" cy="640080"/>
          </a:xfrm>
          <a:prstGeom prst="roundRect">
            <a:avLst/>
          </a:prstGeom>
          <a:solidFill>
            <a:srgbClr val="FBFBF9"/>
          </a:solidFill>
          <a:ln w="12700">
            <a:solidFill>
              <a:srgbClr val="E7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203704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E7490"/>
                </a:solidFill>
                <a:latin typeface="Consolas"/>
              </a:rPr>
              <a:t>:8000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48840" y="220370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11F1C"/>
                </a:solidFill>
                <a:latin typeface="Noto Sans TC"/>
              </a:rPr>
              <a:t>aiops-app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2231136"/>
            <a:ext cx="6126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F6A61"/>
                </a:solidFill>
                <a:latin typeface="Noto Sans TC"/>
              </a:rPr>
              <a:t>UI 渲染 + /api/ proxy；不直連 DB/sidecar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788920"/>
            <a:ext cx="10515600" cy="640080"/>
          </a:xfrm>
          <a:prstGeom prst="roundRect">
            <a:avLst/>
          </a:prstGeom>
          <a:solidFill>
            <a:srgbClr val="FBFBF9"/>
          </a:solidFill>
          <a:ln w="12700">
            <a:solidFill>
              <a:srgbClr val="E7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935224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E7490"/>
                </a:solidFill>
                <a:latin typeface="Consolas"/>
              </a:rPr>
              <a:t>:8002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293522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11F1C"/>
                </a:solidFill>
                <a:latin typeface="Noto Sans TC"/>
              </a:rPr>
              <a:t>aiops-java-api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2962656"/>
            <a:ext cx="6126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F6A61"/>
                </a:solidFill>
                <a:latin typeface="Noto Sans TC"/>
              </a:rPr>
              <a:t>唯一 DB 擁有者：PostgreSQL / auth / 治理簽核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520439"/>
            <a:ext cx="10515600" cy="640080"/>
          </a:xfrm>
          <a:prstGeom prst="roundRect">
            <a:avLst/>
          </a:prstGeom>
          <a:solidFill>
            <a:srgbClr val="FBFBF9"/>
          </a:solidFill>
          <a:ln w="12700">
            <a:solidFill>
              <a:srgbClr val="E7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666744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E7490"/>
                </a:solidFill>
                <a:latin typeface="Consolas"/>
              </a:rPr>
              <a:t>:8050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366674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11F1C"/>
                </a:solidFill>
                <a:latin typeface="Noto Sans TC"/>
              </a:rPr>
              <a:t>python_ai_sidecar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3694176"/>
            <a:ext cx="6126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F6A61"/>
                </a:solidFill>
                <a:latin typeface="Noto Sans TC"/>
              </a:rPr>
              <a:t>所有 Agent（chat / builder / Supervisor）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251959"/>
            <a:ext cx="10515600" cy="640080"/>
          </a:xfrm>
          <a:prstGeom prst="roundRect">
            <a:avLst/>
          </a:prstGeom>
          <a:solidFill>
            <a:srgbClr val="FBFBF9"/>
          </a:solidFill>
          <a:ln w="12700">
            <a:solidFill>
              <a:srgbClr val="E7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398264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E7490"/>
                </a:solidFill>
                <a:latin typeface="Consolas"/>
              </a:rPr>
              <a:t>:8012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439826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11F1C"/>
                </a:solidFill>
                <a:latin typeface="Noto Sans TC"/>
              </a:rPr>
              <a:t>ontology-simulator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4425696"/>
            <a:ext cx="6126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F6A61"/>
                </a:solidFill>
                <a:latin typeface="Noto Sans TC"/>
              </a:rPr>
              <a:t>純資料服務，API 同 production ontology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983479"/>
            <a:ext cx="10515600" cy="640080"/>
          </a:xfrm>
          <a:prstGeom prst="roundRect">
            <a:avLst/>
          </a:prstGeom>
          <a:solidFill>
            <a:srgbClr val="FBFBF9"/>
          </a:solidFill>
          <a:ln w="12700">
            <a:solidFill>
              <a:srgbClr val="E7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5129783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E7490"/>
                </a:solidFill>
                <a:latin typeface="Consolas"/>
              </a:rPr>
              <a:t>:8003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5129783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11F1C"/>
                </a:solidFill>
                <a:latin typeface="Noto Sans TC"/>
              </a:rPr>
              <a:t>aiops-java-scheduler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0" y="5157216"/>
            <a:ext cx="6126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F6A61"/>
                </a:solidFill>
                <a:latin typeface="Noto Sans TC"/>
              </a:rPr>
              <a:t>排程：Auto-Patrol、記憶生命週期 janitor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5751575"/>
            <a:ext cx="54864" cy="658368"/>
          </a:xfrm>
          <a:prstGeom prst="rect">
            <a:avLst/>
          </a:prstGeom>
          <a:solidFill>
            <a:srgbClr val="211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77824" y="5751575"/>
            <a:ext cx="10460736" cy="658368"/>
          </a:xfrm>
          <a:prstGeom prst="rect">
            <a:avLst/>
          </a:prstGeom>
          <a:solidFill>
            <a:srgbClr val="FBFB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78992" y="5879591"/>
            <a:ext cx="100584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11F1C"/>
                </a:solidFill>
                <a:latin typeface="Noto Sans TC"/>
              </a:rPr>
              <a:t>資料流原則：</a:t>
            </a:r>
            <a:r>
              <a:rPr sz="1250" b="0">
                <a:solidFill>
                  <a:srgbClr val="6F6A61"/>
                </a:solidFill>
                <a:latin typeface="Noto Sans TC"/>
              </a:rPr>
              <a:t>前端 → Java（業務）→ sidecar（推理）→ simulator（資料）。sidecar 永不直連 PostgreSQL — DB schema 演進只改一處。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A49E91"/>
                </a:solidFill>
                <a:latin typeface="Consolas"/>
              </a:rPr>
              <a:t>AIOps 平台改造 · 4/15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211F1C"/>
                </a:solidFill>
                <a:latin typeface="Noto Sans TC"/>
              </a:rPr>
              <a:t>Agents 分工 — 執行組織是 code 資產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011680"/>
            <a:ext cx="2651760" cy="54864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39696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BFBF9"/>
                </a:solidFill>
                <a:latin typeface="Noto Sans TC"/>
              </a:rPr>
              <a:t>Planner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11880" y="2011680"/>
            <a:ext cx="7726679" cy="548640"/>
          </a:xfrm>
          <a:prstGeom prst="roundRect">
            <a:avLst/>
          </a:prstGeom>
          <a:solidFill>
            <a:srgbClr val="FBFBF9"/>
          </a:solidFill>
          <a:ln w="12700">
            <a:solidFill>
              <a:srgbClr val="E7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86200" y="2157984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F6A61"/>
                </a:solidFill>
                <a:latin typeface="Noto Sans TC"/>
              </a:rPr>
              <a:t>拆需求成 phase（block-agnostic，只寫 intent）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651760"/>
            <a:ext cx="2651760" cy="548640"/>
          </a:xfrm>
          <a:prstGeom prst="roundRect">
            <a:avLst/>
          </a:prstGeom>
          <a:solidFill>
            <a:srgbClr val="1A7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779776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BFBF9"/>
                </a:solidFill>
                <a:latin typeface="Noto Sans TC"/>
              </a:rPr>
              <a:t>Builder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2651760"/>
            <a:ext cx="7726679" cy="548640"/>
          </a:xfrm>
          <a:prstGeom prst="roundRect">
            <a:avLst/>
          </a:prstGeom>
          <a:solidFill>
            <a:srgbClr val="FBFBF9"/>
          </a:solidFill>
          <a:ln w="12700">
            <a:solidFill>
              <a:srgbClr val="E7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86200" y="2798064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F6A61"/>
                </a:solidFill>
                <a:latin typeface="Noto Sans TC"/>
              </a:rPr>
              <a:t>選 block、填參數、組 DAG（round 預算 + 空回應守門）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291840"/>
            <a:ext cx="2651760" cy="548640"/>
          </a:xfrm>
          <a:prstGeom prst="round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419856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BFBF9"/>
                </a:solidFill>
                <a:latin typeface="Noto Sans TC"/>
              </a:rPr>
              <a:t>Repair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11880" y="3291840"/>
            <a:ext cx="7726679" cy="548640"/>
          </a:xfrm>
          <a:prstGeom prst="roundRect">
            <a:avLst/>
          </a:prstGeom>
          <a:solidFill>
            <a:srgbClr val="FBFBF9"/>
          </a:solidFill>
          <a:ln w="12700">
            <a:solidFill>
              <a:srgbClr val="E7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86200" y="3438144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F6A61"/>
                </a:solidFill>
                <a:latin typeface="Noto Sans TC"/>
              </a:rPr>
              <a:t>三路對齊診斷、修 canvas（需求 × canvas × 拒因）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931920"/>
            <a:ext cx="2651760" cy="548640"/>
          </a:xfrm>
          <a:prstGeom prst="round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059936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BFBF9"/>
                </a:solidFill>
                <a:latin typeface="Noto Sans TC"/>
              </a:rPr>
              <a:t>Verifier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11880" y="3931920"/>
            <a:ext cx="7726679" cy="548640"/>
          </a:xfrm>
          <a:prstGeom prst="roundRect">
            <a:avLst/>
          </a:prstGeom>
          <a:solidFill>
            <a:srgbClr val="FBFBF9"/>
          </a:solidFill>
          <a:ln w="12700">
            <a:solidFill>
              <a:srgbClr val="E7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4078224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F6A61"/>
                </a:solidFill>
                <a:latin typeface="Noto Sans TC"/>
              </a:rPr>
              <a:t>結構 + 實測驗收 — 零 LLM，純確定性、拒因可單測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572000"/>
            <a:ext cx="2651760" cy="548640"/>
          </a:xfrm>
          <a:prstGeom prst="round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700016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BFBF9"/>
                </a:solidFill>
                <a:latin typeface="Noto Sans TC"/>
              </a:rPr>
              <a:t>Chat orchestrator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11880" y="4572000"/>
            <a:ext cx="7726679" cy="548640"/>
          </a:xfrm>
          <a:prstGeom prst="roundRect">
            <a:avLst/>
          </a:prstGeom>
          <a:solidFill>
            <a:srgbClr val="FBFBF9"/>
          </a:solidFill>
          <a:ln w="12700">
            <a:solidFill>
              <a:srgbClr val="E7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86200" y="4718304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F6A61"/>
                </a:solidFill>
                <a:latin typeface="Noto Sans TC"/>
              </a:rPr>
              <a:t>對話路由 v2（intent_classifier + completeness 皆 graph）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5212080"/>
            <a:ext cx="2651760" cy="548640"/>
          </a:xfrm>
          <a:prstGeom prst="round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340096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BFBF9"/>
                </a:solidFill>
                <a:latin typeface="Noto Sans TC"/>
              </a:rPr>
              <a:t>Supervisor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11880" y="5212080"/>
            <a:ext cx="7726679" cy="548640"/>
          </a:xfrm>
          <a:prstGeom prst="roundRect">
            <a:avLst/>
          </a:prstGeom>
          <a:solidFill>
            <a:srgbClr val="FBFBF9"/>
          </a:solidFill>
          <a:ln w="12700">
            <a:solidFill>
              <a:srgbClr val="E7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86200" y="5358384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F6A61"/>
                </a:solidFill>
                <a:latin typeface="Noto Sans TC"/>
              </a:rPr>
              <a:t>平台 SRE + 知識策展人；只有提案權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5870448"/>
            <a:ext cx="54864" cy="603504"/>
          </a:xfrm>
          <a:prstGeom prst="rect">
            <a:avLst/>
          </a:prstGeom>
          <a:solidFill>
            <a:srgbClr val="211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77824" y="5870448"/>
            <a:ext cx="10460736" cy="603504"/>
          </a:xfrm>
          <a:prstGeom prst="rect">
            <a:avLst/>
          </a:prstGeom>
          <a:solidFill>
            <a:srgbClr val="FBFB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78992" y="5998464"/>
            <a:ext cx="100584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6F6A61"/>
                </a:solidFill>
                <a:latin typeface="Noto Sans TC"/>
              </a:rPr>
              <a:t>改動走 git → deploy → gate，一般 user 不直接編輯。每個 Agent 只做窄任務。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A49E91"/>
                </a:solidFill>
                <a:latin typeface="Consolas"/>
              </a:rPr>
              <a:t>AIOps 平台改造 · 5/15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211F1C"/>
                </a:solidFill>
                <a:latin typeface="Noto Sans TC"/>
              </a:rPr>
              <a:t>核心原則 — flow 寫 graph，不寫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1790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6F6A61"/>
                </a:solidFill>
                <a:latin typeface="Noto Sans TC"/>
              </a:rPr>
              <a:t>「下一步做什麼」的決策，永遠不塞進 LLM prompt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94560"/>
            <a:ext cx="5120640" cy="2743200"/>
          </a:xfrm>
          <a:prstGeom prst="roundRect">
            <a:avLst/>
          </a:prstGeom>
          <a:solidFill>
            <a:srgbClr val="F4F2EC"/>
          </a:solidFill>
          <a:ln w="12700">
            <a:solidFill>
              <a:srgbClr val="DEDA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4231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B42318"/>
                </a:solidFill>
                <a:latin typeface="Noto Sans TC"/>
              </a:rPr>
              <a:t>✕  flow 塞 prompt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92608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42318"/>
                </a:solidFill>
                <a:latin typeface="Noto Sans TC"/>
              </a:rPr>
              <a:t>· </a:t>
            </a:r>
            <a:r>
              <a:rPr sz="1300" b="0">
                <a:solidFill>
                  <a:srgbClr val="6F6A61"/>
                </a:solidFill>
                <a:latin typeface="Noto Sans TC"/>
              </a:rPr>
              <a:t>LLM 自由意志會違抗規則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38328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42318"/>
                </a:solidFill>
                <a:latin typeface="Noto Sans TC"/>
              </a:rPr>
              <a:t>· </a:t>
            </a:r>
            <a:r>
              <a:rPr sz="1300" b="0">
                <a:solidFill>
                  <a:srgbClr val="6F6A61"/>
                </a:solidFill>
                <a:latin typeface="Noto Sans TC"/>
              </a:rPr>
              <a:t>prompt 改一字行為就漂移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84048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42318"/>
                </a:solidFill>
                <a:latin typeface="Noto Sans TC"/>
              </a:rPr>
              <a:t>· </a:t>
            </a:r>
            <a:r>
              <a:rPr sz="1300" b="0">
                <a:solidFill>
                  <a:srgbClr val="6F6A61"/>
                </a:solidFill>
                <a:latin typeface="Noto Sans TC"/>
              </a:rPr>
              <a:t>不可單測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9768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42318"/>
                </a:solidFill>
                <a:latin typeface="Noto Sans TC"/>
              </a:rPr>
              <a:t>· </a:t>
            </a:r>
            <a:r>
              <a:rPr sz="1300" b="0">
                <a:solidFill>
                  <a:srgbClr val="6F6A61"/>
                </a:solidFill>
                <a:latin typeface="Noto Sans TC"/>
              </a:rPr>
              <a:t>出錯只能猜 LLM 走偏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2194560"/>
            <a:ext cx="5074920" cy="2743200"/>
          </a:xfrm>
          <a:prstGeom prst="roundRect">
            <a:avLst/>
          </a:prstGeom>
          <a:solidFill>
            <a:srgbClr val="EAF5EE"/>
          </a:solidFill>
          <a:ln w="12700">
            <a:solidFill>
              <a:srgbClr val="BFE0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4231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A7F4E"/>
                </a:solidFill>
                <a:latin typeface="Noto Sans TC"/>
              </a:rPr>
              <a:t>✓  flow 寫 graph node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92608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A7F4E"/>
                </a:solidFill>
                <a:latin typeface="Noto Sans TC"/>
              </a:rPr>
              <a:t>· </a:t>
            </a:r>
            <a:r>
              <a:rPr sz="1300" b="0">
                <a:solidFill>
                  <a:srgbClr val="1A5C3A"/>
                </a:solidFill>
                <a:latin typeface="Noto Sans TC"/>
              </a:rPr>
              <a:t>每個 node 是 pure function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38328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A7F4E"/>
                </a:solidFill>
                <a:latin typeface="Noto Sans TC"/>
              </a:rPr>
              <a:t>· </a:t>
            </a:r>
            <a:r>
              <a:rPr sz="1300" b="0">
                <a:solidFill>
                  <a:srgbClr val="1A5C3A"/>
                </a:solidFill>
                <a:latin typeface="Noto Sans TC"/>
              </a:rPr>
              <a:t>可單測、行為穩定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384048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A7F4E"/>
                </a:solidFill>
                <a:latin typeface="Noto Sans TC"/>
              </a:rPr>
              <a:t>· </a:t>
            </a:r>
            <a:r>
              <a:rPr sz="1300" b="0">
                <a:solidFill>
                  <a:srgbClr val="1A5C3A"/>
                </a:solidFill>
                <a:latin typeface="Noto Sans TC"/>
              </a:rPr>
              <a:t>出錯知道哪個 node fail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29768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A7F4E"/>
                </a:solidFill>
                <a:latin typeface="Noto Sans TC"/>
              </a:rPr>
              <a:t>· </a:t>
            </a:r>
            <a:r>
              <a:rPr sz="1300" b="0">
                <a:solidFill>
                  <a:srgbClr val="1A5C3A"/>
                </a:solidFill>
                <a:latin typeface="Noto Sans TC"/>
              </a:rPr>
              <a:t>LLM 只在 node 內做 reasoning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5166360"/>
            <a:ext cx="54864" cy="822960"/>
          </a:xfrm>
          <a:prstGeom prst="rect">
            <a:avLst/>
          </a:prstGeom>
          <a:solidFill>
            <a:srgbClr val="211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4" y="5166360"/>
            <a:ext cx="10460736" cy="822960"/>
          </a:xfrm>
          <a:prstGeom prst="rect">
            <a:avLst/>
          </a:prstGeom>
          <a:solidFill>
            <a:srgbClr val="FBFB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5294376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11F1C"/>
                </a:solidFill>
                <a:latin typeface="Noto Sans TC"/>
              </a:rPr>
              <a:t>同理：</a:t>
            </a:r>
            <a:r>
              <a:rPr sz="1250" b="0">
                <a:solidFill>
                  <a:srgbClr val="6F6A61"/>
                </a:solidFill>
                <a:latin typeface="Noto Sans TC"/>
              </a:rPr>
              <a:t>禁止把 case-specific rule 塞 prompt。某 case 失敗 → 問根因原則，不是「再加一條規則」。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A49E91"/>
                </a:solidFill>
                <a:latin typeface="Noto Sans TC"/>
              </a:rPr>
              <a:t>每條 case rule 六個月後都會被新變形繞過。抽象成原則、移到 graph、或改 schema。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A49E91"/>
                </a:solidFill>
                <a:latin typeface="Consolas"/>
              </a:rPr>
              <a:t>AIOps 平台改造 · 6/15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211F1C"/>
                </a:solidFill>
                <a:latin typeface="Noto Sans TC"/>
              </a:rPr>
              <a:t>知識與規則 — 文件是 LLM 的唯一來源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057400"/>
            <a:ext cx="10515600" cy="530352"/>
          </a:xfrm>
          <a:prstGeom prst="roundRect">
            <a:avLst/>
          </a:prstGeom>
          <a:solidFill>
            <a:srgbClr val="FBFBF9"/>
          </a:solidFill>
          <a:ln w="12700">
            <a:solidFill>
              <a:srgbClr val="E7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85416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211F1C"/>
                </a:solidFill>
                <a:latin typeface="Noto Sans TC"/>
              </a:rPr>
              <a:t>Directives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21945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F6A61"/>
                </a:solidFill>
                <a:latin typeface="Noto Sans TC"/>
              </a:rPr>
              <a:t>每次回覆必掛的硬規則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219456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6D28D9"/>
                </a:solidFill>
                <a:latin typeface="Consolas"/>
              </a:rPr>
              <a:t>IT_ADMIN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679192"/>
            <a:ext cx="10515600" cy="530352"/>
          </a:xfrm>
          <a:prstGeom prst="roundRect">
            <a:avLst/>
          </a:prstGeom>
          <a:solidFill>
            <a:srgbClr val="FBFBF9"/>
          </a:solidFill>
          <a:ln w="12700">
            <a:solidFill>
              <a:srgbClr val="E7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807208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211F1C"/>
                </a:solidFill>
                <a:latin typeface="Noto Sans TC"/>
              </a:rPr>
              <a:t>Knowledge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281635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F6A61"/>
                </a:solidFill>
                <a:latin typeface="Noto Sans TC"/>
              </a:rPr>
              <a:t>領域知識，RAG 分層取用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0" y="281635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6D28D9"/>
                </a:solidFill>
                <a:latin typeface="Consolas"/>
              </a:rPr>
              <a:t>人 + Agent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300984"/>
            <a:ext cx="10515600" cy="530352"/>
          </a:xfrm>
          <a:prstGeom prst="roundRect">
            <a:avLst/>
          </a:prstGeom>
          <a:solidFill>
            <a:srgbClr val="FBFBF9"/>
          </a:solidFill>
          <a:ln w="12700">
            <a:solidFill>
              <a:srgbClr val="E7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42900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211F1C"/>
                </a:solidFill>
                <a:latin typeface="Noto Sans TC"/>
              </a:rPr>
              <a:t>Lexicon / Examples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343814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F6A61"/>
                </a:solidFill>
                <a:latin typeface="Noto Sans TC"/>
              </a:rPr>
              <a:t>行話改寫 + 風格示範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0" y="3438144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6D28D9"/>
                </a:solidFill>
                <a:latin typeface="Consolas"/>
              </a:rPr>
              <a:t>PE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922776"/>
            <a:ext cx="10515600" cy="530352"/>
          </a:xfrm>
          <a:prstGeom prst="roundRect">
            <a:avLst/>
          </a:prstGeom>
          <a:solidFill>
            <a:srgbClr val="FBFBF9"/>
          </a:solidFill>
          <a:ln w="12700">
            <a:solidFill>
              <a:srgbClr val="E7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050791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211F1C"/>
                </a:solidFill>
                <a:latin typeface="Noto Sans TC"/>
              </a:rPr>
              <a:t>Block docs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23360" y="405993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F6A61"/>
                </a:solidFill>
                <a:latin typeface="Noto Sans TC"/>
              </a:rPr>
              <a:t>block 唯一文件來源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4059936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6D28D9"/>
                </a:solidFill>
                <a:latin typeface="Consolas"/>
              </a:rPr>
              <a:t>人終審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544568"/>
            <a:ext cx="10515600" cy="530352"/>
          </a:xfrm>
          <a:prstGeom prst="roundRect">
            <a:avLst/>
          </a:prstGeom>
          <a:solidFill>
            <a:srgbClr val="FBFBF9"/>
          </a:solidFill>
          <a:ln w="12700">
            <a:solidFill>
              <a:srgbClr val="E7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4672583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211F1C"/>
                </a:solidFill>
                <a:latin typeface="Noto Sans TC"/>
              </a:rPr>
              <a:t>MCP description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3360" y="468172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F6A61"/>
                </a:solidFill>
                <a:latin typeface="Noto Sans TC"/>
              </a:rPr>
              <a:t>外部資料源唯一文件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468172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6D28D9"/>
                </a:solidFill>
                <a:latin typeface="Consolas"/>
              </a:rPr>
              <a:t>IT_ADMIN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5202936"/>
            <a:ext cx="54864" cy="868680"/>
          </a:xfrm>
          <a:prstGeom prst="rect">
            <a:avLst/>
          </a:prstGeom>
          <a:solidFill>
            <a:srgbClr val="211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77824" y="5202936"/>
            <a:ext cx="10460736" cy="868680"/>
          </a:xfrm>
          <a:prstGeom prst="rect">
            <a:avLst/>
          </a:prstGeom>
          <a:solidFill>
            <a:srgbClr val="FBFB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78992" y="5330951"/>
            <a:ext cx="10058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11F1C"/>
                </a:solidFill>
                <a:latin typeface="Noto Sans TC"/>
              </a:rPr>
              <a:t>禁止 hardcode 文件到 prompt：</a:t>
            </a:r>
            <a:r>
              <a:rPr sz="1250" b="0">
                <a:solidFill>
                  <a:srgbClr val="6F6A61"/>
                </a:solidFill>
                <a:latin typeface="Noto Sans TC"/>
              </a:rPr>
              <a:t>LLM 需要了解 block/MCP 時一律從 DB 讀 description + schema。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A49E91"/>
                </a:solidFill>
                <a:latin typeface="Noto Sans TC"/>
              </a:rPr>
              <a:t>若 block 行為改了但 prompt 沒跟改，LLM 會產錯 code。單一來源（DB）才保證三邊一致。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A49E91"/>
                </a:solidFill>
                <a:latin typeface="Consolas"/>
              </a:rPr>
              <a:t>AIOps 平台改造 · 7/15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211F1C"/>
                </a:solidFill>
                <a:latin typeface="Noto Sans TC"/>
              </a:rPr>
              <a:t>記憶重構 — 三級信任階梯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1790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6F6A61"/>
                </a:solidFill>
                <a:latin typeface="Noto Sans TC"/>
              </a:rPr>
              <a:t>這輪最核心的架構決策：訊號來源決定生效速度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10515600" cy="868680"/>
          </a:xfrm>
          <a:prstGeom prst="roundRect">
            <a:avLst/>
          </a:prstGeom>
          <a:solidFill>
            <a:srgbClr val="FBFBF9"/>
          </a:solidFill>
          <a:ln w="12700">
            <a:solidFill>
              <a:srgbClr val="E7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2386584"/>
            <a:ext cx="777240" cy="402336"/>
          </a:xfrm>
          <a:prstGeom prst="roundRect">
            <a:avLst/>
          </a:prstGeom>
          <a:solidFill>
            <a:srgbClr val="F3EFFC"/>
          </a:solidFill>
          <a:ln w="1524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6D28D9"/>
                </a:solidFill>
                <a:latin typeface="Consolas"/>
              </a:rPr>
              <a:t>W1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313432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11F1C"/>
                </a:solidFill>
                <a:latin typeface="Noto Sans TC"/>
              </a:rPr>
              <a:t>偏好（Planner）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65176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F6A61"/>
                </a:solidFill>
                <a:latin typeface="Noto Sans TC"/>
              </a:rPr>
              <a:t>user 親手改 plan — 可信度最高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58200" y="2423160"/>
            <a:ext cx="932688" cy="310896"/>
          </a:xfrm>
          <a:prstGeom prst="roundRect">
            <a:avLst/>
          </a:prstGeom>
          <a:solidFill>
            <a:srgbClr val="F3EFFC"/>
          </a:solidFill>
          <a:ln w="12700">
            <a:solidFill>
              <a:srgbClr val="1A7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000" rIns="18000" tIns="8000" bIns="8000"/>
          <a:lstStyle/>
          <a:p>
            <a:pPr algn="ctr"/>
            <a:r>
              <a:rPr sz="1050" b="1">
                <a:solidFill>
                  <a:srgbClr val="1A7F4E"/>
                </a:solidFill>
                <a:latin typeface="Consolas"/>
              </a:rPr>
              <a:t>立即生效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108960"/>
            <a:ext cx="10515600" cy="868680"/>
          </a:xfrm>
          <a:prstGeom prst="roundRect">
            <a:avLst/>
          </a:prstGeom>
          <a:solidFill>
            <a:srgbClr val="FBFBF9"/>
          </a:solidFill>
          <a:ln w="12700">
            <a:solidFill>
              <a:srgbClr val="E7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51560" y="3346704"/>
            <a:ext cx="777240" cy="402336"/>
          </a:xfrm>
          <a:prstGeom prst="roundRect">
            <a:avLst/>
          </a:prstGeom>
          <a:solidFill>
            <a:srgbClr val="FAF3E2"/>
          </a:solidFill>
          <a:ln w="15240">
            <a:solidFill>
              <a:srgbClr val="9A6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9A6700"/>
                </a:solidFill>
                <a:latin typeface="Consolas"/>
              </a:rPr>
              <a:t>W2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3273552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11F1C"/>
                </a:solidFill>
                <a:latin typeface="Noto Sans TC"/>
              </a:rPr>
              <a:t>便利貼（Builder）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61188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F6A61"/>
                </a:solidFill>
                <a:latin typeface="Noto Sans TC"/>
              </a:rPr>
              <a:t>agent 踩坑自述 — 改全域文件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58200" y="3383280"/>
            <a:ext cx="1056132" cy="310896"/>
          </a:xfrm>
          <a:prstGeom prst="roundRect">
            <a:avLst/>
          </a:prstGeom>
          <a:solidFill>
            <a:srgbClr val="FAF3E2"/>
          </a:solidFill>
          <a:ln w="12700">
            <a:solidFill>
              <a:srgbClr val="9A6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000" rIns="18000" tIns="8000" bIns="8000"/>
          <a:lstStyle/>
          <a:p>
            <a:pPr algn="ctr"/>
            <a:r>
              <a:rPr sz="1050" b="1">
                <a:solidFill>
                  <a:srgbClr val="9A6700"/>
                </a:solidFill>
                <a:latin typeface="Consolas"/>
              </a:rPr>
              <a:t>進待審佇列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69080"/>
            <a:ext cx="10515600" cy="868680"/>
          </a:xfrm>
          <a:prstGeom prst="roundRect">
            <a:avLst/>
          </a:prstGeom>
          <a:solidFill>
            <a:srgbClr val="FBFBF9"/>
          </a:solidFill>
          <a:ln w="12700">
            <a:solidFill>
              <a:srgbClr val="E7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51560" y="4306824"/>
            <a:ext cx="777240" cy="402336"/>
          </a:xfrm>
          <a:prstGeom prst="roundRect">
            <a:avLst/>
          </a:prstGeom>
          <a:solidFill>
            <a:srgbClr val="FDF0EE"/>
          </a:solidFill>
          <a:ln w="15240">
            <a:solidFill>
              <a:srgbClr val="B42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B42318"/>
                </a:solidFill>
                <a:latin typeface="Consolas"/>
              </a:rPr>
              <a:t>W3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4233672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11F1C"/>
                </a:solidFill>
                <a:latin typeface="Noto Sans TC"/>
              </a:rPr>
              <a:t>修正（Repair）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457200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F6A61"/>
                </a:solidFill>
                <a:latin typeface="Noto Sans TC"/>
              </a:rPr>
              <a:t>agent 推論 — 可能只是巧合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58200" y="4343400"/>
            <a:ext cx="1796796" cy="310896"/>
          </a:xfrm>
          <a:prstGeom prst="roundRect">
            <a:avLst/>
          </a:prstGeom>
          <a:solidFill>
            <a:srgbClr val="FDF0EE"/>
          </a:solidFill>
          <a:ln w="12700">
            <a:solidFill>
              <a:srgbClr val="B42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000" rIns="18000" tIns="8000" bIns="8000"/>
          <a:lstStyle/>
          <a:p>
            <a:pPr algn="ctr"/>
            <a:r>
              <a:rPr sz="1050" b="1">
                <a:solidFill>
                  <a:srgbClr val="B42318"/>
                </a:solidFill>
                <a:latin typeface="Consolas"/>
              </a:rPr>
              <a:t>draft，不參與檢索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0749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A49E91"/>
                </a:solidFill>
                <a:latin typeface="Noto Sans TC"/>
              </a:rPr>
              <a:t>可信度遞減（親手 &gt; 自述 &gt; 推論），生效門檻就遞增（即時 &gt; 人審 &gt; 提案＋簽核）。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A49E91"/>
                </a:solidFill>
                <a:latin typeface="Consolas"/>
              </a:rPr>
              <a:t>AIOps 平台改造 · 8/15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211F1C"/>
                </a:solidFill>
                <a:latin typeface="Noto Sans TC"/>
              </a:rPr>
              <a:t>記憶治理 — 生命週期、索引、防污染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1790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6F6A61"/>
                </a:solidFill>
                <a:latin typeface="Noto Sans TC"/>
              </a:rPr>
              <a:t>關鍵擔憂「久了只是一堆 memory」→ 由代謝 + 名額回答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5166360" cy="3200400"/>
          </a:xfrm>
          <a:prstGeom prst="roundRect">
            <a:avLst/>
          </a:prstGeom>
          <a:solidFill>
            <a:srgbClr val="FBFBF9"/>
          </a:solidFill>
          <a:ln w="12700">
            <a:solidFill>
              <a:srgbClr val="E7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2148840"/>
            <a:ext cx="5166360" cy="502920"/>
          </a:xfrm>
          <a:prstGeom prst="roundRect">
            <a:avLst/>
          </a:prstGeom>
          <a:solidFill>
            <a:srgbClr val="211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76856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BFBF9"/>
                </a:solidFill>
                <a:latin typeface="Noto Sans TC"/>
              </a:rPr>
              <a:t>狀態機 + 自動代謝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83464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E7490"/>
                </a:solidFill>
                <a:latin typeface="Consolas"/>
              </a:rPr>
              <a:t>draft → active → stale → archived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2918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11F1C"/>
                </a:solidFill>
                <a:latin typeface="Noto Sans TC"/>
              </a:rPr>
              <a:t>· </a:t>
            </a:r>
            <a:r>
              <a:rPr sz="1250" b="0">
                <a:solidFill>
                  <a:srgbClr val="6F6A61"/>
                </a:solidFill>
                <a:latin typeface="Noto Sans TC"/>
              </a:rPr>
              <a:t>draft 逾 30 天未轉正 → 自動 archived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76732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11F1C"/>
                </a:solidFill>
                <a:latin typeface="Noto Sans TC"/>
              </a:rPr>
              <a:t>· </a:t>
            </a:r>
            <a:r>
              <a:rPr sz="1250" b="0">
                <a:solidFill>
                  <a:srgbClr val="6F6A61"/>
                </a:solidFill>
                <a:latin typeface="Noto Sans TC"/>
              </a:rPr>
              <a:t>episodic 逾 90 天 → stale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242816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11F1C"/>
                </a:solidFill>
                <a:latin typeface="Noto Sans TC"/>
              </a:rPr>
              <a:t>· </a:t>
            </a:r>
            <a:r>
              <a:rPr sz="1250" b="0">
                <a:solidFill>
                  <a:srgbClr val="6F6A61"/>
                </a:solidFill>
                <a:latin typeface="Noto Sans TC"/>
              </a:rPr>
              <a:t>preference 零召回 180 天 → 提 PRUNE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718304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11F1C"/>
                </a:solidFill>
                <a:latin typeface="Noto Sans TC"/>
              </a:rPr>
              <a:t>· </a:t>
            </a:r>
            <a:r>
              <a:rPr sz="1250" b="0">
                <a:solidFill>
                  <a:srgbClr val="6F6A61"/>
                </a:solidFill>
                <a:latin typeface="Noto Sans TC"/>
              </a:rPr>
              <a:t>domain / procedure 年審（365 天）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02920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A49E91"/>
                </a:solidFill>
                <a:latin typeface="Noto Sans TC"/>
              </a:rPr>
              <a:t>確定性 janitor 每日跑，非策展判斷。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148840"/>
            <a:ext cx="5166360" cy="3200400"/>
          </a:xfrm>
          <a:prstGeom prst="roundRect">
            <a:avLst/>
          </a:prstGeom>
          <a:solidFill>
            <a:srgbClr val="FBFBF9"/>
          </a:solidFill>
          <a:ln w="12700">
            <a:solidFill>
              <a:srgbClr val="E7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72200" y="2148840"/>
            <a:ext cx="5166360" cy="502920"/>
          </a:xfrm>
          <a:prstGeom prst="round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2276856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BFBF9"/>
                </a:solidFill>
                <a:latin typeface="Noto Sans TC"/>
              </a:rPr>
              <a:t>索引 + 檢索權重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83464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D28D9"/>
                </a:solidFill>
                <a:latin typeface="Noto Sans TC"/>
              </a:rPr>
              <a:t>subject 索引</a:t>
            </a:r>
            <a:r>
              <a:rPr sz="1200" b="0">
                <a:solidFill>
                  <a:srgbClr val="6F6A61"/>
                </a:solidFill>
                <a:latin typeface="Noto Sans TC"/>
              </a:rPr>
              <a:t> block / tool / skill / request_class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20040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F6A61"/>
                </a:solidFill>
                <a:latin typeface="Noto Sans TC"/>
              </a:rPr>
              <a:t>讓「按 block 聚合查案」成為可能。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84048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D28D9"/>
                </a:solidFill>
                <a:latin typeface="Noto Sans TC"/>
              </a:rPr>
              <a:t>權重檢索</a:t>
            </a:r>
            <a:r>
              <a:rPr sz="1150" b="0">
                <a:solidFill>
                  <a:srgbClr val="A49E91"/>
                </a:solidFill>
                <a:latin typeface="Noto Sans TC"/>
              </a:rPr>
              <a:t>（flag，預設 OFF）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0624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F6A61"/>
                </a:solidFill>
                <a:latin typeface="Consolas"/>
              </a:rPr>
              <a:t>cosine × priority × 180天半衰期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663440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F6A61"/>
                </a:solidFill>
                <a:latin typeface="Noto Sans TC"/>
              </a:rPr>
              <a:t>+ 每類名額（preference ≤1、episodic ≤1）防單一類洗版。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A49E91"/>
                </a:solidFill>
                <a:latin typeface="Consolas"/>
              </a:rPr>
              <a:t>AIOps 平台改造 · 9/15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211F1C"/>
                </a:solidFill>
                <a:latin typeface="Noto Sans TC"/>
              </a:rPr>
              <a:t>多語系 — 介面翻譯、資料不翻、對話交給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1790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6F6A61"/>
                </a:solidFill>
                <a:latin typeface="Noto Sans TC"/>
              </a:rPr>
              <a:t>繁中 / 簡中 / English / 日本語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429000" cy="3063240"/>
          </a:xfrm>
          <a:prstGeom prst="roundRect">
            <a:avLst/>
          </a:prstGeom>
          <a:solidFill>
            <a:srgbClr val="FBFBF9"/>
          </a:solidFill>
          <a:ln w="12700">
            <a:solidFill>
              <a:srgbClr val="E7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2148840"/>
            <a:ext cx="3429000" cy="50292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76856"/>
            <a:ext cx="3429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BFBF9"/>
                </a:solidFill>
                <a:latin typeface="Noto Sans TC"/>
              </a:rPr>
              <a:t>介面殼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834640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563EB"/>
                </a:solidFill>
                <a:latin typeface="Noto Sans TC"/>
              </a:rPr>
              <a:t>· </a:t>
            </a:r>
            <a:r>
              <a:rPr sz="1200" b="0">
                <a:solidFill>
                  <a:srgbClr val="6F6A61"/>
                </a:solidFill>
                <a:latin typeface="Noto Sans TC"/>
              </a:rPr>
              <a:t>next-intl v4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3364992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563EB"/>
                </a:solidFill>
                <a:latin typeface="Noto Sans TC"/>
              </a:rPr>
              <a:t>· </a:t>
            </a:r>
            <a:r>
              <a:rPr sz="1200" b="0">
                <a:solidFill>
                  <a:srgbClr val="6F6A61"/>
                </a:solidFill>
                <a:latin typeface="Noto Sans TC"/>
              </a:rPr>
              <a:t>cookie-based 無 URL routing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3895344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563EB"/>
                </a:solidFill>
                <a:latin typeface="Noto Sans TC"/>
              </a:rPr>
              <a:t>· </a:t>
            </a:r>
            <a:r>
              <a:rPr sz="1200" b="0">
                <a:solidFill>
                  <a:srgbClr val="6F6A61"/>
                </a:solidFill>
                <a:latin typeface="Noto Sans TC"/>
              </a:rPr>
              <a:t>14 namespace · 繁中為源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" y="4425696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563EB"/>
                </a:solidFill>
                <a:latin typeface="Noto Sans TC"/>
              </a:rPr>
              <a:t>· </a:t>
            </a:r>
            <a:r>
              <a:rPr sz="1200" b="0">
                <a:solidFill>
                  <a:srgbClr val="6F6A61"/>
                </a:solidFill>
                <a:latin typeface="Noto Sans TC"/>
              </a:rPr>
              <a:t>GLOSSARY 術語約束 · check 防回歸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148840"/>
            <a:ext cx="3429000" cy="3063240"/>
          </a:xfrm>
          <a:prstGeom prst="roundRect">
            <a:avLst/>
          </a:prstGeom>
          <a:solidFill>
            <a:srgbClr val="FBFBF9"/>
          </a:solidFill>
          <a:ln w="12700">
            <a:solidFill>
              <a:srgbClr val="E7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34840" y="2148840"/>
            <a:ext cx="3429000" cy="502920"/>
          </a:xfrm>
          <a:prstGeom prst="roundRect">
            <a:avLst/>
          </a:prstGeom>
          <a:solidFill>
            <a:srgbClr val="1A7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4840" y="2276856"/>
            <a:ext cx="3429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BFBF9"/>
                </a:solidFill>
                <a:latin typeface="Noto Sans TC"/>
              </a:rPr>
              <a:t>資料值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90872" y="2834640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A7F4E"/>
                </a:solidFill>
                <a:latin typeface="Noto Sans TC"/>
              </a:rPr>
              <a:t>· </a:t>
            </a:r>
            <a:r>
              <a:rPr sz="1200" b="0">
                <a:solidFill>
                  <a:srgbClr val="6F6A61"/>
                </a:solidFill>
                <a:latin typeface="Noto Sans TC"/>
              </a:rPr>
              <a:t>tool_id / chart / 記憶內容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90872" y="3364992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A7F4E"/>
                </a:solidFill>
                <a:latin typeface="Noto Sans TC"/>
              </a:rPr>
              <a:t>· </a:t>
            </a:r>
            <a:r>
              <a:rPr sz="1200" b="0">
                <a:solidFill>
                  <a:srgbClr val="6F6A61"/>
                </a:solidFill>
                <a:latin typeface="Noto Sans TC"/>
              </a:rPr>
              <a:t>一律原貌 (source is truth)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0872" y="3895344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A7F4E"/>
                </a:solidFill>
                <a:latin typeface="Noto Sans TC"/>
              </a:rPr>
              <a:t>· </a:t>
            </a:r>
            <a:r>
              <a:rPr sz="1200" b="0">
                <a:solidFill>
                  <a:srgbClr val="6F6A61"/>
                </a:solidFill>
                <a:latin typeface="Noto Sans TC"/>
              </a:rPr>
              <a:t>生成物保持生成語言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90872" y="4425696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A7F4E"/>
                </a:solidFill>
                <a:latin typeface="Noto Sans TC"/>
              </a:rPr>
              <a:t>· </a:t>
            </a:r>
            <a:r>
              <a:rPr sz="1200" b="0">
                <a:solidFill>
                  <a:srgbClr val="6F6A61"/>
                </a:solidFill>
                <a:latin typeface="Noto Sans TC"/>
              </a:rPr>
              <a:t>不回溯翻譯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2148840"/>
            <a:ext cx="3429000" cy="3063240"/>
          </a:xfrm>
          <a:prstGeom prst="roundRect">
            <a:avLst/>
          </a:prstGeom>
          <a:solidFill>
            <a:srgbClr val="FBFBF9"/>
          </a:solidFill>
          <a:ln w="12700">
            <a:solidFill>
              <a:srgbClr val="E7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046720" y="2148840"/>
            <a:ext cx="3429000" cy="502920"/>
          </a:xfrm>
          <a:prstGeom prst="round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0" y="2276856"/>
            <a:ext cx="3429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BFBF9"/>
                </a:solidFill>
                <a:latin typeface="Noto Sans TC"/>
              </a:rPr>
              <a:t>LLM 對話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2752" y="2834640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D28D9"/>
                </a:solidFill>
                <a:latin typeface="Noto Sans TC"/>
              </a:rPr>
              <a:t>· </a:t>
            </a:r>
            <a:r>
              <a:rPr sz="1200" b="0">
                <a:solidFill>
                  <a:srgbClr val="6F6A61"/>
                </a:solidFill>
                <a:latin typeface="Noto Sans TC"/>
              </a:rPr>
              <a:t>回覆跟隨 user 語系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2752" y="3364992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D28D9"/>
                </a:solidFill>
                <a:latin typeface="Noto Sans TC"/>
              </a:rPr>
              <a:t>· </a:t>
            </a:r>
            <a:r>
              <a:rPr sz="1200" b="0">
                <a:solidFill>
                  <a:srgbClr val="6F6A61"/>
                </a:solidFill>
                <a:latin typeface="Noto Sans TC"/>
              </a:rPr>
              <a:t>繁中 = prompt byte-identical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2752" y="3895344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D28D9"/>
                </a:solidFill>
                <a:latin typeface="Noto Sans TC"/>
              </a:rPr>
              <a:t>· </a:t>
            </a:r>
            <a:r>
              <a:rPr sz="1200" b="0">
                <a:solidFill>
                  <a:srgbClr val="6F6A61"/>
                </a:solidFill>
                <a:latin typeface="Noto Sans TC"/>
              </a:rPr>
              <a:t>日文 です・ます体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2752" y="4425696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D28D9"/>
                </a:solidFill>
                <a:latin typeface="Noto Sans TC"/>
              </a:rPr>
              <a:t>· </a:t>
            </a:r>
            <a:r>
              <a:rPr sz="1200" b="0">
                <a:solidFill>
                  <a:srgbClr val="6F6A61"/>
                </a:solidFill>
                <a:latin typeface="Noto Sans TC"/>
              </a:rPr>
              <a:t>users.locale 跨裝置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" y="5440680"/>
            <a:ext cx="54864" cy="777240"/>
          </a:xfrm>
          <a:prstGeom prst="rect">
            <a:avLst/>
          </a:prstGeom>
          <a:solidFill>
            <a:srgbClr val="211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77824" y="5440680"/>
            <a:ext cx="10460736" cy="777240"/>
          </a:xfrm>
          <a:prstGeom prst="rect">
            <a:avLst/>
          </a:prstGeom>
          <a:solidFill>
            <a:srgbClr val="FBFB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78992" y="5568696"/>
            <a:ext cx="10058400" cy="594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11F1C"/>
                </a:solidFill>
                <a:latin typeface="Noto Sans TC"/>
              </a:rPr>
              <a:t>設計優勢：</a:t>
            </a:r>
            <a:r>
              <a:rPr sz="1250" b="0">
                <a:solidFill>
                  <a:srgbClr val="6F6A61"/>
                </a:solidFill>
                <a:latin typeface="Noto Sans TC"/>
              </a:rPr>
              <a:t>wire 送 code + 參數、顯示層才翻 → Java/sidecar 完全不用知道有幾種語言，加語系只動前端 catalog。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A49E91"/>
                </a:solidFill>
                <a:latin typeface="Consolas"/>
              </a:rPr>
              <a:t>AIOps 平台改造 · 10/15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211F1C"/>
                </a:solidFill>
                <a:latin typeface="Noto Sans TC"/>
              </a:rPr>
              <a:t>Supervisor — 平台的 SRE 兼知識策展人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1790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6F6A61"/>
                </a:solidFill>
                <a:latin typeface="Noto Sans TC"/>
              </a:rPr>
              <a:t>硬規則：只有提案權，落地一律經人簽核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10515600" cy="960120"/>
          </a:xfrm>
          <a:prstGeom prst="roundRect">
            <a:avLst/>
          </a:prstGeom>
          <a:solidFill>
            <a:srgbClr val="EEF4FE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295144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2563EB"/>
                </a:solidFill>
                <a:latin typeface="Consolas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295144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11F1C"/>
                </a:solidFill>
                <a:latin typeface="Noto Sans TC"/>
              </a:rPr>
              <a:t>執行健康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67919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F6A61"/>
                </a:solidFill>
                <a:latin typeface="Noto Sans TC"/>
              </a:rPr>
              <a:t>build 成功率、rounds、拒因分布、退步偵測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2459736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563EB"/>
                </a:solidFill>
                <a:latin typeface="Noto Sans TC"/>
              </a:rPr>
              <a:t>→ </a:t>
            </a:r>
            <a:r>
              <a:rPr sz="1250" b="1">
                <a:solidFill>
                  <a:srgbClr val="211F1C"/>
                </a:solidFill>
                <a:latin typeface="Noto Sans TC"/>
              </a:rPr>
              <a:t>診斷 + 調參提案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227832"/>
            <a:ext cx="10515600" cy="960120"/>
          </a:xfrm>
          <a:prstGeom prst="roundRect">
            <a:avLst/>
          </a:prstGeom>
          <a:solidFill>
            <a:srgbClr val="F3EFFC"/>
          </a:solidFill>
          <a:ln w="1270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374136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6D28D9"/>
                </a:solidFill>
                <a:latin typeface="Consolas"/>
              </a:rPr>
              <a:t>S2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3374136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11F1C"/>
                </a:solidFill>
                <a:latin typeface="Noto Sans TC"/>
              </a:rPr>
              <a:t>知識品質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758184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F6A61"/>
                </a:solidFill>
                <a:latin typeface="Noto Sans TC"/>
              </a:rPr>
              <a:t>召回命中、W1–W3 佇列、零召回事件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3538728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D28D9"/>
                </a:solidFill>
                <a:latin typeface="Noto Sans TC"/>
              </a:rPr>
              <a:t>→ </a:t>
            </a:r>
            <a:r>
              <a:rPr sz="1250" b="1">
                <a:solidFill>
                  <a:srgbClr val="211F1C"/>
                </a:solidFill>
                <a:latin typeface="Noto Sans TC"/>
              </a:rPr>
              <a:t>PRUNE / PROMOTE / MERGE / DOC_REVISE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306824"/>
            <a:ext cx="10515600" cy="960120"/>
          </a:xfrm>
          <a:prstGeom prst="roundRect">
            <a:avLst/>
          </a:prstGeom>
          <a:solidFill>
            <a:srgbClr val="E9F5F8"/>
          </a:solidFill>
          <a:ln w="1270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5312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0E7490"/>
                </a:solidFill>
                <a:latin typeface="Consolas"/>
              </a:rPr>
              <a:t>S3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4453128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11F1C"/>
                </a:solidFill>
                <a:latin typeface="Noto Sans TC"/>
              </a:rPr>
              <a:t>成本資源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4837176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F6A61"/>
                </a:solidFill>
                <a:latin typeface="Noto Sans TC"/>
              </a:rPr>
              <a:t>花費、cache、provider 空回應率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461772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E7490"/>
                </a:solidFill>
                <a:latin typeface="Noto Sans TC"/>
              </a:rPr>
              <a:t>→ </a:t>
            </a:r>
            <a:r>
              <a:rPr sz="1250" b="1">
                <a:solidFill>
                  <a:srgbClr val="211F1C"/>
                </a:solidFill>
                <a:latin typeface="Noto Sans TC"/>
              </a:rPr>
              <a:t>異常警報 + 設定調整提案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5404103"/>
            <a:ext cx="54864" cy="603504"/>
          </a:xfrm>
          <a:prstGeom prst="rect">
            <a:avLst/>
          </a:prstGeom>
          <a:solidFill>
            <a:srgbClr val="211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7824" y="5404103"/>
            <a:ext cx="10460736" cy="603504"/>
          </a:xfrm>
          <a:prstGeom prst="rect">
            <a:avLst/>
          </a:prstGeom>
          <a:solidFill>
            <a:srgbClr val="FBFB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5532119"/>
            <a:ext cx="100584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6F6A61"/>
                </a:solidFill>
                <a:latin typeface="Noto Sans TC"/>
              </a:rPr>
              <a:t>開發者「人肉盯 trace」的工作，這輪移交給 Supervisor 自動化 — 觀察、診斷、提案，但不落地。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A49E91"/>
                </a:solidFill>
                <a:latin typeface="Consolas"/>
              </a:rPr>
              <a:t>AIOps 平台改造 · 11/15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211F1C"/>
                </a:solidFill>
                <a:latin typeface="Noto Sans TC"/>
              </a:rPr>
              <a:t>查案 — Case Lesson Learned（旗艦能力）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1790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6F6A61"/>
                </a:solidFill>
                <a:latin typeface="Noto Sans TC"/>
              </a:rPr>
              <a:t>Supervisor 自己翻失敗紀錄找根因；防垃圾記憶是硬規則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515600" cy="1371600"/>
          </a:xfrm>
          <a:prstGeom prst="roundRect">
            <a:avLst/>
          </a:prstGeom>
          <a:solidFill>
            <a:srgbClr val="FBFBF9"/>
          </a:solidFill>
          <a:ln w="12700">
            <a:solidFill>
              <a:srgbClr val="E7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43000" y="2514600"/>
            <a:ext cx="1691640" cy="548640"/>
          </a:xfrm>
          <a:prstGeom prst="roundRect">
            <a:avLst/>
          </a:prstGeom>
          <a:solidFill>
            <a:srgbClr val="F4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211F1C"/>
                </a:solidFill>
                <a:latin typeface="Noto Sans TC"/>
              </a:rPr>
              <a:t>選案 (零LLM)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62072" y="2587752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A49E91"/>
                </a:solidFill>
                <a:latin typeface="Consolas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72968" y="2514600"/>
            <a:ext cx="1691640" cy="548640"/>
          </a:xfrm>
          <a:prstGeom prst="roundRect">
            <a:avLst/>
          </a:prstGeom>
          <a:solidFill>
            <a:srgbClr val="F4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211F1C"/>
                </a:solidFill>
                <a:latin typeface="Noto Sans TC"/>
              </a:rPr>
              <a:t>按 block 熱點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2587752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A49E91"/>
                </a:solidFill>
                <a:latin typeface="Consolas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02936" y="2514600"/>
            <a:ext cx="1691640" cy="548640"/>
          </a:xfrm>
          <a:prstGeom prst="roundRect">
            <a:avLst/>
          </a:prstGeom>
          <a:solidFill>
            <a:srgbClr val="211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BFBF9"/>
                </a:solidFill>
                <a:latin typeface="Noto Sans TC"/>
              </a:rPr>
              <a:t>≤3 LLM 深挖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22008" y="2587752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A49E91"/>
                </a:solidFill>
                <a:latin typeface="Consola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2904" y="2514600"/>
            <a:ext cx="1691640" cy="548640"/>
          </a:xfrm>
          <a:prstGeom prst="roundRect">
            <a:avLst/>
          </a:prstGeom>
          <a:solidFill>
            <a:srgbClr val="F4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211F1C"/>
                </a:solidFill>
                <a:latin typeface="Noto Sans TC"/>
              </a:rPr>
              <a:t>決策樹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51976" y="2587752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A49E91"/>
                </a:solidFill>
                <a:latin typeface="Consolas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62872" y="2514600"/>
            <a:ext cx="1691640" cy="548640"/>
          </a:xfrm>
          <a:prstGeom prst="roundRect">
            <a:avLst/>
          </a:prstGeom>
          <a:solidFill>
            <a:srgbClr val="F4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211F1C"/>
                </a:solidFill>
                <a:latin typeface="Noto Sans TC"/>
              </a:rPr>
              <a:t>提案+證據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2461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42318"/>
                </a:solidFill>
                <a:latin typeface="Noto Sans TC"/>
              </a:rPr>
              <a:t>防污染四閘：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703320"/>
            <a:ext cx="5120640" cy="658368"/>
          </a:xfrm>
          <a:prstGeom prst="roundRect">
            <a:avLst/>
          </a:prstGeom>
          <a:solidFill>
            <a:srgbClr val="FDF0EE"/>
          </a:solidFill>
          <a:ln w="12700">
            <a:solidFill>
              <a:srgbClr val="F3C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384048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B42318"/>
                </a:solidFill>
                <a:latin typeface="Noto Sans TC"/>
              </a:rPr>
              <a:t>單一 case 熱點　</a:t>
            </a:r>
            <a:r>
              <a:rPr sz="1250" b="0">
                <a:solidFill>
                  <a:srgbClr val="6F6A61"/>
                </a:solidFill>
                <a:latin typeface="Noto Sans TC"/>
              </a:rPr>
              <a:t>→ 什麼都不留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703320"/>
            <a:ext cx="5120640" cy="658368"/>
          </a:xfrm>
          <a:prstGeom prst="roundRect">
            <a:avLst/>
          </a:prstGeom>
          <a:solidFill>
            <a:srgbClr val="FDF0EE"/>
          </a:solidFill>
          <a:ln w="12700">
            <a:solidFill>
              <a:srgbClr val="F3C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384048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B42318"/>
                </a:solidFill>
                <a:latin typeface="Noto Sans TC"/>
              </a:rPr>
              <a:t>知識提案　</a:t>
            </a:r>
            <a:r>
              <a:rPr sz="1250" b="0">
                <a:solidFill>
                  <a:srgbClr val="6F6A61"/>
                </a:solidFill>
                <a:latin typeface="Noto Sans TC"/>
              </a:rPr>
              <a:t>→ 需 ≥3 不同 request + 泛化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480559"/>
            <a:ext cx="5120640" cy="658368"/>
          </a:xfrm>
          <a:prstGeom prst="roundRect">
            <a:avLst/>
          </a:prstGeom>
          <a:solidFill>
            <a:srgbClr val="FDF0EE"/>
          </a:solidFill>
          <a:ln w="12700">
            <a:solidFill>
              <a:srgbClr val="F3C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461772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B42318"/>
                </a:solidFill>
                <a:latin typeface="Noto Sans TC"/>
              </a:rPr>
              <a:t>優先順序　</a:t>
            </a:r>
            <a:r>
              <a:rPr sz="1250" b="0">
                <a:solidFill>
                  <a:srgbClr val="6F6A61"/>
                </a:solidFill>
                <a:latin typeface="Noto Sans TC"/>
              </a:rPr>
              <a:t>→ 修文件 &gt; 加記憶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4480559"/>
            <a:ext cx="5120640" cy="658368"/>
          </a:xfrm>
          <a:prstGeom prst="roundRect">
            <a:avLst/>
          </a:prstGeom>
          <a:solidFill>
            <a:srgbClr val="FDF0EE"/>
          </a:solidFill>
          <a:ln w="12700">
            <a:solidFill>
              <a:srgbClr val="F3C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461772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B42318"/>
                </a:solidFill>
                <a:latin typeface="Noto Sans TC"/>
              </a:rPr>
              <a:t>成本閘　</a:t>
            </a:r>
            <a:r>
              <a:rPr sz="1250" b="0">
                <a:solidFill>
                  <a:srgbClr val="6F6A61"/>
                </a:solidFill>
                <a:latin typeface="Noto Sans TC"/>
              </a:rPr>
              <a:t>→ 一次 ≈ 幾美分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4924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11F1C"/>
                </a:solidFill>
                <a:latin typeface="Noto Sans TC"/>
              </a:rPr>
              <a:t>成本細節：</a:t>
            </a:r>
            <a:r>
              <a:rPr sz="1200" b="0">
                <a:solidFill>
                  <a:srgbClr val="A49E91"/>
                </a:solidFill>
                <a:latin typeface="Noto Sans TC"/>
              </a:rPr>
              <a:t>hard cap 3 個深挖 · 去重在 LLM 之前 · 選案/彙整/回寫零 LLM → 一次巡檢 7–17k tokens，比一個 user build 還省。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A49E91"/>
                </a:solidFill>
                <a:latin typeface="Consolas"/>
              </a:rPr>
              <a:t>AIOps 平台改造 · 12/15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211F1C"/>
                </a:solidFill>
                <a:latin typeface="Noto Sans TC"/>
              </a:rPr>
              <a:t>簽核路由 — 信任階梯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1790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6F6A61"/>
                </a:solidFill>
                <a:latin typeface="Noto Sans TC"/>
              </a:rPr>
              <a:t>依「誰提的」決定誰批；agent 提的由 Supervisor 自己同意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94560"/>
            <a:ext cx="10515600" cy="914400"/>
          </a:xfrm>
          <a:prstGeom prst="roundRect">
            <a:avLst/>
          </a:prstGeom>
          <a:solidFill>
            <a:srgbClr val="FBFBF9"/>
          </a:solidFill>
          <a:ln w="12700">
            <a:solidFill>
              <a:srgbClr val="E7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5915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11F1C"/>
                </a:solidFill>
                <a:latin typeface="Noto Sans TC"/>
              </a:rPr>
              <a:t>ON_DUTY 現場人員（教它/回報）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72491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F6A61"/>
                </a:solidFill>
                <a:latin typeface="Noto Sans TC"/>
              </a:rPr>
              <a:t>驗證現場經驗的領域正確性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0" y="2487168"/>
            <a:ext cx="932688" cy="310896"/>
          </a:xfrm>
          <a:prstGeom prst="roundRect">
            <a:avLst/>
          </a:prstGeom>
          <a:solidFill>
            <a:srgbClr val="F3EFFC"/>
          </a:solidFill>
          <a:ln w="1270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000" rIns="18000" tIns="8000" bIns="8000"/>
          <a:lstStyle/>
          <a:p>
            <a:pPr algn="ctr"/>
            <a:r>
              <a:rPr sz="1050" b="1">
                <a:solidFill>
                  <a:srgbClr val="6D28D9"/>
                </a:solidFill>
                <a:latin typeface="Consolas"/>
              </a:rPr>
              <a:t>PE 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18688"/>
            <a:ext cx="10515600" cy="914400"/>
          </a:xfrm>
          <a:prstGeom prst="roundRect">
            <a:avLst/>
          </a:prstGeom>
          <a:solidFill>
            <a:srgbClr val="FBFBF9"/>
          </a:solidFill>
          <a:ln w="12700">
            <a:solidFill>
              <a:srgbClr val="E7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38328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11F1C"/>
                </a:solidFill>
                <a:latin typeface="Noto Sans TC"/>
              </a:rPr>
              <a:t>Agent 提的（策展、增量/可復原）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749039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F6A61"/>
                </a:solidFill>
                <a:latin typeface="Noto Sans TC"/>
              </a:rPr>
              <a:t>agent 提的由 Supervisor 同意即可 · 全程 audit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0" y="3511296"/>
            <a:ext cx="2167128" cy="310896"/>
          </a:xfrm>
          <a:prstGeom prst="roundRect">
            <a:avLst/>
          </a:prstGeom>
          <a:solidFill>
            <a:srgbClr val="EAF5EE"/>
          </a:solidFill>
          <a:ln w="12700">
            <a:solidFill>
              <a:srgbClr val="1A7F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000" rIns="18000" tIns="8000" bIns="8000"/>
          <a:lstStyle/>
          <a:p>
            <a:pPr algn="ctr"/>
            <a:r>
              <a:rPr sz="1050" b="1">
                <a:solidFill>
                  <a:srgbClr val="1A7F4E"/>
                </a:solidFill>
                <a:latin typeface="Consolas"/>
              </a:rPr>
              <a:t>Supervisor 自動核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242816"/>
            <a:ext cx="10515600" cy="914400"/>
          </a:xfrm>
          <a:prstGeom prst="roundRect">
            <a:avLst/>
          </a:prstGeom>
          <a:solidFill>
            <a:srgbClr val="FBFBF9"/>
          </a:solidFill>
          <a:ln w="12700">
            <a:solidFill>
              <a:srgbClr val="E7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40740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11F1C"/>
                </a:solidFill>
                <a:latin typeface="Noto Sans TC"/>
              </a:rPr>
              <a:t>Supervisor 查案 + 刪除/設定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77316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F6A61"/>
                </a:solidFill>
                <a:latin typeface="Noto Sans TC"/>
              </a:rPr>
              <a:t>平台級決策 + 刪除永遠留人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66560" y="4535424"/>
            <a:ext cx="1796796" cy="310896"/>
          </a:xfrm>
          <a:prstGeom prst="roundRect">
            <a:avLst/>
          </a:prstGeom>
          <a:solidFill>
            <a:srgbClr val="211F1C"/>
          </a:solidFill>
          <a:ln w="12700">
            <a:solidFill>
              <a:srgbClr val="FBF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000" rIns="18000" tIns="8000" bIns="8000"/>
          <a:lstStyle/>
          <a:p>
            <a:pPr algn="ctr"/>
            <a:r>
              <a:rPr sz="1050" b="1">
                <a:solidFill>
                  <a:srgbClr val="FBFBF9"/>
                </a:solidFill>
                <a:latin typeface="Consolas"/>
              </a:rPr>
              <a:t>IT_ADMIN 決定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5285232"/>
            <a:ext cx="54864" cy="658368"/>
          </a:xfrm>
          <a:prstGeom prst="rect">
            <a:avLst/>
          </a:prstGeom>
          <a:solidFill>
            <a:srgbClr val="211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7824" y="5285232"/>
            <a:ext cx="10460736" cy="658368"/>
          </a:xfrm>
          <a:prstGeom prst="rect">
            <a:avLst/>
          </a:prstGeom>
          <a:solidFill>
            <a:srgbClr val="FBFB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5413248"/>
            <a:ext cx="100584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11F1C"/>
                </a:solidFill>
                <a:latin typeface="Noto Sans TC"/>
              </a:rPr>
              <a:t>安全護欄：</a:t>
            </a:r>
            <a:r>
              <a:rPr sz="1200" b="0">
                <a:solidFill>
                  <a:srgbClr val="6F6A61"/>
                </a:solidFill>
                <a:latin typeface="Noto Sans TC"/>
              </a:rPr>
              <a:t>只有「增量/可復原」的策展類自動核；PRUNE（刪除）與 Supervisor 自己的調查一律留給人。自動核失敗退回人工，全程 audit。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A49E91"/>
                </a:solidFill>
                <a:latin typeface="Consolas"/>
              </a:rPr>
              <a:t>AIOps 平台改造 · 13/15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211F1C"/>
                </a:solidFill>
                <a:latin typeface="Noto Sans TC"/>
              </a:rPr>
              <a:t>提案的生命週期 — 案情四段 + 阻擋式進度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03120"/>
            <a:ext cx="10515600" cy="868680"/>
          </a:xfrm>
          <a:prstGeom prst="roundRect">
            <a:avLst/>
          </a:prstGeom>
          <a:solidFill>
            <a:srgbClr val="211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35915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FBFBF9"/>
                </a:solidFill>
                <a:latin typeface="Noto Sans TC"/>
              </a:rPr>
              <a:t>提案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237744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B9B2A5"/>
                </a:solidFill>
                <a:latin typeface="Consolas"/>
              </a:rPr>
              <a:t>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235915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FBFBF9"/>
                </a:solidFill>
                <a:latin typeface="Noto Sans TC"/>
              </a:rPr>
              <a:t>簽核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237744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B9B2A5"/>
                </a:solidFill>
                <a:latin typeface="Consolas"/>
              </a:rP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35915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FBFBF9"/>
                </a:solidFill>
                <a:latin typeface="Noto Sans TC"/>
              </a:rPr>
              <a:t>落地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37744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B9B2A5"/>
                </a:solidFill>
                <a:latin typeface="Consolas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35915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FBFBF9"/>
                </a:solidFill>
                <a:latin typeface="Noto Sans TC"/>
              </a:rPr>
              <a:t>成效回寫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200400"/>
            <a:ext cx="5166360" cy="2331720"/>
          </a:xfrm>
          <a:prstGeom prst="roundRect">
            <a:avLst/>
          </a:prstGeom>
          <a:solidFill>
            <a:srgbClr val="FBFBF9"/>
          </a:solidFill>
          <a:ln w="12700">
            <a:solidFill>
              <a:srgbClr val="E7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" y="3200400"/>
            <a:ext cx="5166360" cy="502920"/>
          </a:xfrm>
          <a:prstGeom prst="round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328416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BFBF9"/>
                </a:solidFill>
                <a:latin typeface="Noto Sans TC"/>
              </a:rPr>
              <a:t>提案 = 案情四段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84048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6D28D9"/>
                </a:solidFill>
                <a:latin typeface="Noto Sans TC"/>
              </a:rPr>
              <a:t>1. </a:t>
            </a:r>
            <a:r>
              <a:rPr sz="1200" b="0">
                <a:solidFill>
                  <a:srgbClr val="6F6A61"/>
                </a:solidFill>
                <a:latin typeface="Noto Sans TC"/>
              </a:rPr>
              <a:t>發生了什麼（含案例數 + trace 連結）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242816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6D28D9"/>
                </a:solidFill>
                <a:latin typeface="Noto Sans TC"/>
              </a:rPr>
              <a:t>2. </a:t>
            </a:r>
            <a:r>
              <a:rPr sz="1200" b="0">
                <a:solidFill>
                  <a:srgbClr val="6F6A61"/>
                </a:solidFill>
                <a:latin typeface="Noto Sans TC"/>
              </a:rPr>
              <a:t>觀察到的問題（診斷）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645152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6D28D9"/>
                </a:solidFill>
                <a:latin typeface="Noto Sans TC"/>
              </a:rPr>
              <a:t>3. </a:t>
            </a:r>
            <a:r>
              <a:rPr sz="1200" b="0">
                <a:solidFill>
                  <a:srgbClr val="6F6A61"/>
                </a:solidFill>
                <a:latin typeface="Noto Sans TC"/>
              </a:rPr>
              <a:t>影響對象（block / 記憶，可點）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047488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6D28D9"/>
                </a:solidFill>
                <a:latin typeface="Noto Sans TC"/>
              </a:rPr>
              <a:t>4. </a:t>
            </a:r>
            <a:r>
              <a:rPr sz="1200" b="0">
                <a:solidFill>
                  <a:srgbClr val="6F6A61"/>
                </a:solidFill>
                <a:latin typeface="Noto Sans TC"/>
              </a:rPr>
              <a:t>提議動作（含 diff 對照）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548640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11F1C"/>
                </a:solidFill>
                <a:latin typeface="Noto Sans TC"/>
              </a:rPr>
              <a:t>證據鏈 </a:t>
            </a:r>
            <a:r>
              <a:rPr sz="1150" b="0">
                <a:solidFill>
                  <a:srgbClr val="A49E91"/>
                </a:solidFill>
                <a:latin typeface="Consolas"/>
              </a:rPr>
              <a:t>▣ 系統事實 · △ 自述 · ◆ 記憶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3200400"/>
            <a:ext cx="5166360" cy="2331720"/>
          </a:xfrm>
          <a:prstGeom prst="roundRect">
            <a:avLst/>
          </a:prstGeom>
          <a:solidFill>
            <a:srgbClr val="FBFBF9"/>
          </a:solidFill>
          <a:ln w="12700">
            <a:solidFill>
              <a:srgbClr val="E7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72200" y="3200400"/>
            <a:ext cx="5166360" cy="502920"/>
          </a:xfrm>
          <a:prstGeom prst="round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72200" y="3328416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BFBF9"/>
                </a:solidFill>
                <a:latin typeface="Noto Sans TC"/>
              </a:rPr>
              <a:t>手動觸發 + 阻擋式進度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379476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E7490"/>
                </a:solidFill>
                <a:latin typeface="Noto Sans TC"/>
              </a:rPr>
              <a:t>· </a:t>
            </a:r>
            <a:r>
              <a:rPr sz="1200" b="0">
                <a:solidFill>
                  <a:srgbClr val="6F6A61"/>
                </a:solidFill>
                <a:latin typeface="Noto Sans TC"/>
              </a:rPr>
              <a:t>立即巡檢鈕（IT_ADMIN）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4178808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E7490"/>
                </a:solidFill>
                <a:latin typeface="Noto Sans TC"/>
              </a:rPr>
              <a:t>· </a:t>
            </a:r>
            <a:r>
              <a:rPr sz="1200" b="0">
                <a:solidFill>
                  <a:srgbClr val="6F6A61"/>
                </a:solidFill>
                <a:latin typeface="Noto Sans TC"/>
              </a:rPr>
              <a:t>阻擋罩：共 N 筆、檢查到第 X 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4562856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E7490"/>
                </a:solidFill>
                <a:latin typeface="Noto Sans TC"/>
              </a:rPr>
              <a:t>· </a:t>
            </a:r>
            <a:r>
              <a:rPr sz="1200" b="0">
                <a:solidFill>
                  <a:srgbClr val="6F6A61"/>
                </a:solidFill>
                <a:latin typeface="Noto Sans TC"/>
              </a:rPr>
              <a:t>activity-id 防重複（同案不重提）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4946904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E7490"/>
                </a:solidFill>
                <a:latin typeface="Noto Sans TC"/>
              </a:rPr>
              <a:t>· </a:t>
            </a:r>
            <a:r>
              <a:rPr sz="1200" b="0">
                <a:solidFill>
                  <a:srgbClr val="6F6A61"/>
                </a:solidFill>
                <a:latin typeface="Noto Sans TC"/>
              </a:rPr>
              <a:t>舊提案自動 supersede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5330952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E7490"/>
                </a:solidFill>
                <a:latin typeface="Noto Sans TC"/>
              </a:rPr>
              <a:t>· </a:t>
            </a:r>
            <a:r>
              <a:rPr sz="1200" b="0">
                <a:solidFill>
                  <a:srgbClr val="6F6A61"/>
                </a:solidFill>
                <a:latin typeface="Noto Sans TC"/>
              </a:rPr>
              <a:t>落地滿 7 天自動回寫成效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A49E91"/>
                </a:solidFill>
                <a:latin typeface="Consolas"/>
              </a:rPr>
              <a:t>AIOps 平台改造 · 14/15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211F1C"/>
                </a:solidFill>
                <a:latin typeface="Noto Sans TC"/>
              </a:rPr>
              <a:t>對話體驗重整 — 單卡生命週期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1790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6F6A61"/>
                </a:solidFill>
                <a:latin typeface="Noto Sans TC"/>
              </a:rPr>
              <a:t>把凌亂的 chat 收斂成一次 build 一張卡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5120640" cy="2834640"/>
          </a:xfrm>
          <a:prstGeom prst="roundRect">
            <a:avLst/>
          </a:prstGeom>
          <a:solidFill>
            <a:srgbClr val="F4F2EC"/>
          </a:solidFill>
          <a:ln w="12700">
            <a:solidFill>
              <a:srgbClr val="DEDA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5146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6F6A61"/>
                </a:solidFill>
                <a:latin typeface="Noto Sans TC"/>
              </a:rPr>
              <a:t>改造前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01752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F6A61"/>
                </a:solidFill>
                <a:latin typeface="Noto Sans TC"/>
              </a:rPr>
              <a:t>· </a:t>
            </a:r>
            <a:r>
              <a:rPr sz="1250" b="0">
                <a:solidFill>
                  <a:srgbClr val="6F6A61"/>
                </a:solidFill>
                <a:latin typeface="Noto Sans TC"/>
              </a:rPr>
              <a:t>計畫卡 + 進度卡 + ops log 各自貼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38144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F6A61"/>
                </a:solidFill>
                <a:latin typeface="Noto Sans TC"/>
              </a:rPr>
              <a:t>· </a:t>
            </a:r>
            <a:r>
              <a:rPr sz="1250" b="0">
                <a:solidFill>
                  <a:srgbClr val="6F6A61"/>
                </a:solidFill>
                <a:latin typeface="Noto Sans TC"/>
              </a:rPr>
              <a:t>建構敘事泡重述卡片操作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85876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F6A61"/>
                </a:solidFill>
                <a:latin typeface="Noto Sans TC"/>
              </a:rPr>
              <a:t>· </a:t>
            </a:r>
            <a:r>
              <a:rPr sz="1250" b="0">
                <a:solidFill>
                  <a:srgbClr val="6F6A61"/>
                </a:solidFill>
                <a:latin typeface="Noto Sans TC"/>
              </a:rPr>
              <a:t>數值驗證漂浮 chip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7939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F6A61"/>
                </a:solidFill>
                <a:latin typeface="Noto Sans TC"/>
              </a:rPr>
              <a:t>· </a:t>
            </a:r>
            <a:r>
              <a:rPr sz="1250" b="0">
                <a:solidFill>
                  <a:srgbClr val="6F6A61"/>
                </a:solidFill>
                <a:latin typeface="Noto Sans TC"/>
              </a:rPr>
              <a:t>header 塞 token 統計 + 圓點列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700016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F6A61"/>
                </a:solidFill>
                <a:latin typeface="Noto Sans TC"/>
              </a:rPr>
              <a:t>· </a:t>
            </a:r>
            <a:r>
              <a:rPr sz="1250" b="0">
                <a:solidFill>
                  <a:srgbClr val="6F6A61"/>
                </a:solidFill>
                <a:latin typeface="Noto Sans TC"/>
              </a:rPr>
              <a:t>一次 build 疊出五六張卡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2286000"/>
            <a:ext cx="5074920" cy="2834640"/>
          </a:xfrm>
          <a:prstGeom prst="roundRect">
            <a:avLst/>
          </a:prstGeom>
          <a:solidFill>
            <a:srgbClr val="EAF5EE"/>
          </a:solidFill>
          <a:ln w="12700">
            <a:solidFill>
              <a:srgbClr val="BFE0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25146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A7F4E"/>
                </a:solidFill>
                <a:latin typeface="Noto Sans TC"/>
              </a:rPr>
              <a:t>改造後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01752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A7F4E"/>
                </a:solidFill>
                <a:latin typeface="Noto Sans TC"/>
              </a:rPr>
              <a:t>· </a:t>
            </a:r>
            <a:r>
              <a:rPr sz="1250" b="0">
                <a:solidFill>
                  <a:srgbClr val="1A5C3A"/>
                </a:solidFill>
                <a:latin typeface="Noto Sans TC"/>
              </a:rPr>
              <a:t>INTENT 卡：點選即送出並鎖定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3438144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A7F4E"/>
                </a:solidFill>
                <a:latin typeface="Noto Sans TC"/>
              </a:rPr>
              <a:t>· </a:t>
            </a:r>
            <a:r>
              <a:rPr sz="1250" b="0">
                <a:solidFill>
                  <a:srgbClr val="1A5C3A"/>
                </a:solidFill>
                <a:latin typeface="Noto Sans TC"/>
              </a:rPr>
              <a:t>BUILD PLAN 卡：草案→建構中→完成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385876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A7F4E"/>
                </a:solidFill>
                <a:latin typeface="Noto Sans TC"/>
              </a:rPr>
              <a:t>· </a:t>
            </a:r>
            <a:r>
              <a:rPr sz="1250" b="0">
                <a:solidFill>
                  <a:srgbClr val="1A5C3A"/>
                </a:solidFill>
                <a:latin typeface="Noto Sans TC"/>
              </a:rPr>
              <a:t>同一張卡原地變身，不貼新卡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427939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A7F4E"/>
                </a:solidFill>
                <a:latin typeface="Noto Sans TC"/>
              </a:rPr>
              <a:t>· </a:t>
            </a:r>
            <a:r>
              <a:rPr sz="1250" b="0">
                <a:solidFill>
                  <a:srgbClr val="1A5C3A"/>
                </a:solidFill>
                <a:latin typeface="Noto Sans TC"/>
              </a:rPr>
              <a:t>完成卡收尾（▣ 驗證 · ◆ 學到）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4700016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A7F4E"/>
                </a:solidFill>
                <a:latin typeface="Noto Sans TC"/>
              </a:rPr>
              <a:t>· </a:t>
            </a:r>
            <a:r>
              <a:rPr sz="1250" b="0">
                <a:solidFill>
                  <a:srgbClr val="1A5C3A"/>
                </a:solidFill>
                <a:latin typeface="Noto Sans TC"/>
              </a:rPr>
              <a:t>內部運作歸 Console 分頁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3492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11F1C"/>
                </a:solidFill>
                <a:latin typeface="Noto Sans TC"/>
              </a:rPr>
              <a:t>同批：</a:t>
            </a:r>
            <a:r>
              <a:rPr sz="1200" b="0">
                <a:solidFill>
                  <a:srgbClr val="A49E91"/>
                </a:solidFill>
                <a:latin typeface="Noto Sans TC"/>
              </a:rPr>
              <a:t>三步 wizard sunset · GLM 空回應守門（避免鬼打牆卡死）· Console 記憶效應唯讀卡。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1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9B2A5"/>
                </a:solidFill>
                <a:latin typeface="Consolas"/>
              </a:rPr>
              <a:t>運維速查 · 交付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BFBF9"/>
                </a:solidFill>
                <a:latin typeface="Noto Sans TC"/>
              </a:rPr>
              <a:t>值班 DevOps 最小操作集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2286000" cy="548640"/>
          </a:xfrm>
          <a:prstGeom prst="roundRect">
            <a:avLst/>
          </a:prstGeom>
          <a:noFill/>
          <a:ln w="12700">
            <a:solidFill>
              <a:srgbClr val="555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60604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0DCB4"/>
                </a:solidFill>
                <a:latin typeface="Noto Sans TC"/>
              </a:rPr>
              <a:t>部署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2606040"/>
            <a:ext cx="8046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D6D0C4"/>
                </a:solidFill>
                <a:latin typeface="Noto Sans TC"/>
              </a:rPr>
              <a:t>update.sh = 前端；java-update.sh = Java+sidecar（改後者必跑）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163824"/>
            <a:ext cx="2286000" cy="548640"/>
          </a:xfrm>
          <a:prstGeom prst="roundRect">
            <a:avLst/>
          </a:prstGeom>
          <a:noFill/>
          <a:ln w="12700">
            <a:solidFill>
              <a:srgbClr val="555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300984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0DCB4"/>
                </a:solidFill>
                <a:latin typeface="Noto Sans TC"/>
              </a:rPr>
              <a:t>Migration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3300984"/>
            <a:ext cx="8046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D6D0C4"/>
                </a:solidFill>
                <a:latin typeface="Noto Sans TC"/>
              </a:rPr>
              <a:t>Flyway prod 停用 — 新 V**.sql 手動 psql -f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58768"/>
            <a:ext cx="2286000" cy="548640"/>
          </a:xfrm>
          <a:prstGeom prst="roundRect">
            <a:avLst/>
          </a:prstGeom>
          <a:noFill/>
          <a:ln w="12700">
            <a:solidFill>
              <a:srgbClr val="555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995928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0DCB4"/>
                </a:solidFill>
                <a:latin typeface="Noto Sans TC"/>
              </a:rPr>
              <a:t>排程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995928"/>
            <a:ext cx="8046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D6D0C4"/>
                </a:solidFill>
                <a:latin typeface="Noto Sans TC"/>
              </a:rPr>
              <a:t>記憶 janitor 03:20 · Supervisor forensics 03:40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553712"/>
            <a:ext cx="2286000" cy="548640"/>
          </a:xfrm>
          <a:prstGeom prst="roundRect">
            <a:avLst/>
          </a:prstGeom>
          <a:noFill/>
          <a:ln w="12700">
            <a:solidFill>
              <a:srgbClr val="555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690872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0DCB4"/>
                </a:solidFill>
                <a:latin typeface="Noto Sans TC"/>
              </a:rPr>
              <a:t>Stack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4690872"/>
            <a:ext cx="8046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D6D0C4"/>
                </a:solidFill>
                <a:latin typeface="Noto Sans TC"/>
              </a:rPr>
              <a:t>Java 17 · Spring 3.5.14 · Python 3.11 · Node 20.18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76072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9B2A5"/>
                </a:solidFill>
                <a:latin typeface="Noto Sans TC"/>
              </a:rPr>
              <a:t>延伸文件：</a:t>
            </a:r>
            <a:r>
              <a:rPr sz="1200" b="0">
                <a:solidFill>
                  <a:srgbClr val="A49E91"/>
                </a:solidFill>
                <a:latin typeface="Noto Sans TC"/>
              </a:rPr>
              <a:t>PLATFORM_OVERVIEW_2026H2.html（深度版）· SUPERVISOR_WALKTHROUGH.html · deploy/ 與各服務 README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