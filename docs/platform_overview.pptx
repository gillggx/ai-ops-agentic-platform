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AIOPS 平台架構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Server-side Agent 平台 ＋ Local Claude Cowork，全程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115568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平台跑在 server，AI Agent 內建於後端、各打對應的 LLM；同時開放 MCP 讓本地 Claude 也連得進來。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487168" cy="658368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248716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67128"/>
            <a:ext cx="2487168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Next.js · :8000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2384" y="1929384"/>
            <a:ext cx="4572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783080"/>
            <a:ext cx="2487168" cy="658368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874519"/>
            <a:ext cx="248716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Java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167128"/>
            <a:ext cx="2487168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DB / Auth · :8002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9384"/>
            <a:ext cx="4572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2487168" cy="658368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48716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AI Sidecar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67128"/>
            <a:ext cx="2487168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Agents · :8050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1929384"/>
            <a:ext cx="4572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1783080"/>
            <a:ext cx="2487168" cy="658368"/>
          </a:xfrm>
          <a:prstGeom prst="roundRect">
            <a:avLst>
              <a:gd name="adj" fmla="val 9000"/>
            </a:avLst>
          </a:prstGeom>
          <a:solidFill>
            <a:srgbClr val="F6F8FA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874519"/>
            <a:ext cx="248716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Data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167128"/>
            <a:ext cx="2487168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Ontology · :8012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43200"/>
            <a:ext cx="553212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29077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2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94076"/>
            <a:ext cx="1417320" cy="2926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① SERVER-SIDE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2898648"/>
            <a:ext cx="370332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Agent → 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310128"/>
            <a:ext cx="2491740" cy="566928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383280"/>
            <a:ext cx="2491740" cy="256032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Chat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621024"/>
            <a:ext cx="249174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維運問答，graph 決定流程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4428" y="3310128"/>
            <a:ext cx="2491740" cy="566928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2716" y="3383280"/>
            <a:ext cx="2491740" cy="256032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Glass Box 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2716" y="3621024"/>
            <a:ext cx="249174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自然語言組 pipeline /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986784"/>
            <a:ext cx="5166359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LLM 選型：預設 </a:t>
            </a:r>
            <a:r>
              <a:rPr sz="11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GLM-5.2</a:t>
            </a:r>
            <a:r>
              <a:rPr sz="11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（成本效益最佳），高難度任務升級 </a:t>
            </a:r>
            <a:r>
              <a:rPr sz="11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Opus 4.8 / Sonnet 5</a:t>
            </a:r>
            <a:r>
              <a:rPr sz="11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743200"/>
            <a:ext cx="52578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29077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894076"/>
            <a:ext cx="1371600" cy="29260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② LOCAL COWORK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898648"/>
            <a:ext cx="342900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透過 MCP 連入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346704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01568"/>
            <a:ext cx="2103120" cy="256032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Local Claude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639312"/>
            <a:ext cx="210312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Cowork / Desktop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456432"/>
            <a:ext cx="4572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94176"/>
            <a:ext cx="457200" cy="1828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MCP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346704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401568"/>
            <a:ext cx="2103120" cy="256032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MCP 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639312"/>
            <a:ext cx="210312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secret-path · :8060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986784"/>
            <a:ext cx="489204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能探索 blocks、preview / validate / execute、建 skill、提 rule 變更 —— 但</a:t>
            </a:r>
            <a:r>
              <a:rPr sz="11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只能提案</a:t>
            </a:r>
            <a:r>
              <a:rPr sz="1100" b="0">
                <a:solidFill>
                  <a:srgbClr val="5B677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681728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809744"/>
            <a:ext cx="10607040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★ 最重要：兩條路徑都 </a:t>
            </a:r>
            <a:r>
              <a:rPr sz="14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不直接對線上動作</a:t>
            </a:r>
            <a:r>
              <a:rPr sz="14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 — Human-in-the-Loop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212080"/>
            <a:ext cx="2331720" cy="402336"/>
          </a:xfrm>
          <a:prstGeom prst="roundRect">
            <a:avLst>
              <a:gd name="adj" fmla="val 22000"/>
            </a:avLst>
          </a:prstGeom>
          <a:solidFill>
            <a:srgbClr val="F2ECFE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202936"/>
            <a:ext cx="2331720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AI / Cowork 產出提案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72968" y="5212080"/>
            <a:ext cx="310896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83863" y="5212080"/>
            <a:ext cx="2377440" cy="402336"/>
          </a:xfrm>
          <a:prstGeom prst="roundRect">
            <a:avLst>
              <a:gd name="adj" fmla="val 22000"/>
            </a:avLst>
          </a:prstGeom>
          <a:solidFill>
            <a:srgbClr val="FDF3E3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3863" y="5202936"/>
            <a:ext cx="2377440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人在標準介面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79592" y="5212080"/>
            <a:ext cx="310896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0488" y="5212080"/>
            <a:ext cx="1920240" cy="402336"/>
          </a:xfrm>
          <a:prstGeom prst="roundRect">
            <a:avLst>
              <a:gd name="adj" fmla="val 22000"/>
            </a:avLst>
          </a:prstGeom>
          <a:solidFill>
            <a:srgbClr val="E7F7EC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0488" y="5202936"/>
            <a:ext cx="1920240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人 確認 / 編輯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9015" y="5212080"/>
            <a:ext cx="310896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8A97A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39912" y="5212080"/>
            <a:ext cx="2011680" cy="402336"/>
          </a:xfrm>
          <a:prstGeom prst="roundRect">
            <a:avLst>
              <a:gd name="adj" fmla="val 22000"/>
            </a:avLst>
          </a:prstGeom>
          <a:solidFill>
            <a:srgbClr val="F6F8FA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9912" y="5202936"/>
            <a:ext cx="2011680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系統才實際套用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760720"/>
            <a:ext cx="27432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5760720"/>
            <a:ext cx="1042416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LLM 生成的 block / skill </a:t>
            </a:r>
            <a:r>
              <a:rPr sz="11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永遠是草稿</a:t>
            </a: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 — 人 review + 編輯後才 commit。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5993892"/>
            <a:ext cx="27432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5993892"/>
            <a:ext cx="1042416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Cowork 提的 rule 變更（啟用 / 停用 / 刪除）</a:t>
            </a:r>
            <a:r>
              <a:rPr sz="11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只能從已登入的 GUI</a:t>
            </a: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 觸發，MCP 本身無法執行。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227064"/>
            <a:ext cx="27432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6227064"/>
            <a:ext cx="10424160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危險動作與線上系統之間，</a:t>
            </a:r>
            <a:r>
              <a:rPr sz="11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永遠隔著一個人的確認</a:t>
            </a:r>
            <a:r>
              <a:rPr sz="1150" b="0">
                <a:solidFill>
                  <a:srgbClr val="1A2230"/>
                </a:solidFill>
                <a:latin typeface="Microsoft JhengHei"/>
                <a:ea typeface="Microsoft JhengHei"/>
                <a:cs typeface="Microsoft JhengHei"/>
              </a:rPr>
              <a:t> —— 不可繞過的 gate。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