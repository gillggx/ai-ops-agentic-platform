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9DC0FF"/>
                </a:solidFill>
                <a:latin typeface="Microsoft JhengHei"/>
              </a:rPr>
              <a:t>技術分享 · Engineering Deep-Dive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</a:rPr>
              <a:t>AIOps 智能 Agent 平台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CEDCF5"/>
                </a:solidFill>
                <a:latin typeface="Microsoft JhengHei"/>
              </a:rPr>
              <a:t>架構、行為與設計原則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涵蓋主題：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EDCF5"/>
                </a:solidFill>
                <a:latin typeface="Microsoft JhengHei"/>
              </a:rPr>
              <a:t>Agent 架構與行為　·　Context Engineering　·　Memory / Knowledge Management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EDCF5"/>
                </a:solidFill>
                <a:latin typeface="Microsoft JhengHei"/>
              </a:rPr>
              <a:t>Block / Skill Document 設計　·　【最新版】Skill → Auto Patrol / Auto Check 機制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全景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平台與 Agent 的位置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四個服務、清楚邊界 — 所有 Agent 都住在 Python sidecar，Java 是唯一 DB 擁有者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8872" cy="10789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aiops-app : 8000   </a:t>
            </a:r>
            <a:r>
              <a:rPr sz="1300" b="1" i="0">
                <a:solidFill>
                  <a:srgbClr val="101828"/>
                </a:solidFill>
                <a:latin typeface="Microsoft JhengHei"/>
              </a:rPr>
              <a:t>Next.js 前端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只做 UI 渲染 + /api proxy；不直接碰 sidecar /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24328"/>
            <a:ext cx="111831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24328"/>
            <a:ext cx="118872" cy="1078992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java-api : 8002   </a:t>
            </a:r>
            <a:r>
              <a:rPr sz="1300" b="1" i="0">
                <a:solidFill>
                  <a:srgbClr val="101828"/>
                </a:solidFill>
                <a:latin typeface="Microsoft JhengHei"/>
              </a:rPr>
              <a:t>Spring Boot（唯一 DB 擁有者）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所有 PostgreSQL 讀寫、auth、business CRUD、registry、alarms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111831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831336"/>
            <a:ext cx="118872" cy="10789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50208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D28D9"/>
                </a:solidFill>
                <a:latin typeface="Microsoft JhengHei"/>
              </a:rPr>
              <a:t>python-sidecar : 8050   </a:t>
            </a:r>
            <a:r>
              <a:rPr sz="1300" b="1" i="0">
                <a:solidFill>
                  <a:srgbClr val="101828"/>
                </a:solidFill>
                <a:latin typeface="Microsoft JhengHei"/>
              </a:rPr>
              <a:t>LangGraph Agents + Pipeline Executor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三個 Agent surface + 57 blocks 全在這裡 in-process 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38344"/>
            <a:ext cx="1118311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038344"/>
            <a:ext cx="118872" cy="1078992"/>
          </a:xfrm>
          <a:prstGeom prst="rect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57216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67085"/>
                </a:solidFill>
                <a:latin typeface="Microsoft JhengHei"/>
              </a:rPr>
              <a:t>ontology-sim : 8012   </a:t>
            </a:r>
            <a:r>
              <a:rPr sz="1300" b="1" i="0">
                <a:solidFill>
                  <a:srgbClr val="101828"/>
                </a:solidFill>
                <a:latin typeface="Microsoft JhengHei"/>
              </a:rPr>
              <a:t>資料來源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純資料服務，不知道 Agent 存在；介面同 production ontology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全景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AGENT 介紹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三個 Agent Surface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同一個 sidecar、不同入口與編排器；都用 LangGraph，路由由 graph node 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83112" cy="5669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31455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752" y="1463040"/>
            <a:ext cx="26426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入口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1463040"/>
            <a:ext cx="24140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編排器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7111" y="1463040"/>
            <a:ext cx="27614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路由方式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29968"/>
            <a:ext cx="31455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Chat（維運對話）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029968"/>
            <a:ext cx="26426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onsolas"/>
              </a:rPr>
              <a:t>/internal/agent/chat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29968"/>
            <a:ext cx="24140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agent_orchestrator_v2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1" y="2029968"/>
            <a:ext cx="27614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intent_classifier(5 bucket) + completeness 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96896"/>
            <a:ext cx="11183112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596896"/>
            <a:ext cx="31455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Builder Glass Box（建 pipeline）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26426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onsolas"/>
              </a:rPr>
              <a:t>/internal/agent/build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596896"/>
            <a:ext cx="24140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graph_build v30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596896"/>
            <a:ext cx="27614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goal_plan → phase_loop → 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163824"/>
            <a:ext cx="31455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Block Advisor（block Q&amp;A）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163824"/>
            <a:ext cx="26426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onsolas"/>
              </a:rPr>
              <a:t>/internal/agent/build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163824"/>
            <a:ext cx="24140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advisor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3163824"/>
            <a:ext cx="27614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classify_advisor_intent 5 bucket dispatch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45846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025396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592324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159252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726180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977639"/>
            <a:ext cx="11183112" cy="19659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1828"/>
                </a:solidFill>
                <a:latin typeface="Microsoft JhengHei"/>
              </a:rPr>
              <a:t>共同特徵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D4ED8"/>
                </a:solidFill>
                <a:latin typeface="Microsoft JhengHei"/>
              </a:rPr>
              <a:t>•  LLM 只在 node 內做窄任務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（分類 / 抽參 / 規劃 / 寫答）；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『下一步做什麼』永遠由 graph 的 conditional edge 決定。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Builder 入口先跑 </a:t>
            </a:r>
            <a:r>
              <a:rPr sz="1200" b="1" i="0">
                <a:solidFill>
                  <a:srgbClr val="6D28D9"/>
                </a:solidFill>
                <a:latin typeface="Consolas"/>
              </a:rPr>
              <a:t>classify_advisor_intent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：BUILD → Glass Box 建構；EXPLAIN / COMPARE / RECOMMEND → advisor 回答。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Prod builder LLM = </a:t>
            </a:r>
            <a:r>
              <a:rPr sz="1300" b="1" i="0">
                <a:solidFill>
                  <a:srgbClr val="067647"/>
                </a:solidFill>
                <a:latin typeface="Microsoft JhengHei"/>
              </a:rPr>
              <a:t>GLM-5.2 @ Fireworks @ medium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（2026-06-25 經 SLASH-17 bake-off 由 KIMI 切換）。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Agent 介紹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AGENT 行為 · 核心哲學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Flow 在 Graph，LLM 只負責 Reason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074920" cy="46177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5720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D28D9"/>
                </a:solidFill>
                <a:latin typeface="Microsoft JhengHei"/>
              </a:rPr>
              <a:t>Hard Rule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任何『下一步 / 該呼叫哪個 tool』的決策，禁止塞進 LLM system prompt — 改寫成 graph node + deterministic dispatch。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D28D9"/>
                </a:solidFill>
                <a:latin typeface="Microsoft JhengHei"/>
              </a:rPr>
              <a:t>為什麼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LLM 自由意志會違抗 prompt 規則（已多次證實）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prompt 寫的 flow 不可單測；graph node 是 pure function，可單測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出錯時 graph 知道是哪個 node fail；prompt-flow 只能猜『LLM 又走偏了』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71600"/>
            <a:ext cx="587959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06440" y="1371600"/>
            <a:ext cx="100584" cy="14173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1499616"/>
            <a:ext cx="5486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6D28D9"/>
                </a:solidFill>
                <a:latin typeface="Microsoft JhengHei"/>
              </a:rPr>
              <a:t>意圖路由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LLM 只輸出 enum bucket（5–7 種）；graph 的 conditional_edge 讀那個字串路由。intent 壞掉就 graceful fallback。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926080"/>
            <a:ext cx="587959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2926080"/>
            <a:ext cx="100584" cy="14173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3054096"/>
            <a:ext cx="5486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6D28D9"/>
                </a:solidFill>
                <a:latin typeface="Microsoft JhengHei"/>
              </a:rPr>
              <a:t>Phase 驗證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phase_verifier 是 deterministic 結構檢查（covers / orphan / leaf），不是問 LLM『這 phase 好了嗎』— 省錢且不會幻覺自評。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4480560"/>
            <a:ext cx="587959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4480560"/>
            <a:ext cx="100584" cy="14173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4608576"/>
            <a:ext cx="5486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6D28D9"/>
                </a:solidFill>
                <a:latin typeface="Microsoft JhengHei"/>
              </a:rPr>
              <a:t>修正預算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repair / revise / reflect 都有 graph 控制的次數上限；何時放棄由 graph 決定，不靠 prompt 裡的信心分數。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Agent 行為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AGENT 行為 ·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v30 建構流程：規劃 → 逐 phase 建 → 驗證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目標導向 ReAct：規劃只談意圖、不選 block；選 block 留到 execute 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10312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9202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goal_plan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192023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出 3–7 個 phase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只談意圖，禁列 block 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1" y="1874519"/>
            <a:ext cx="274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67085"/>
                </a:solidFill>
                <a:latin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4620" y="1508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4620" y="1508760"/>
            <a:ext cx="2103120" cy="384048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6060" y="1536192"/>
            <a:ext cx="19202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confirm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6060" y="1938528"/>
            <a:ext cx="192023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interrupt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user 確認 / 編輯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9452" y="1874519"/>
            <a:ext cx="274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67085"/>
                </a:solidFill>
                <a:latin typeface="Microsoft Jheng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508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508760"/>
            <a:ext cx="2103120" cy="3840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536192"/>
            <a:ext cx="19202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phase_loop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938528"/>
            <a:ext cx="192023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ReAct，1 action/round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≤32 round/phase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1874519"/>
            <a:ext cx="274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67085"/>
                </a:solidFill>
                <a:latin typeface="Microsoft Jheng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8020" y="1508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18020" y="1508760"/>
            <a:ext cx="2103120" cy="384048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9459" y="1536192"/>
            <a:ext cx="19202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phase_verifier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9459" y="1938528"/>
            <a:ext cx="192023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結構檢查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covers / orphan / leaf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2852" y="1874519"/>
            <a:ext cx="274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67085"/>
                </a:solidFill>
                <a:latin typeface="Microsoft Jheng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508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1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1508760"/>
            <a:ext cx="2103120" cy="38404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536192"/>
            <a:ext cx="19202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finalize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1938528"/>
            <a:ext cx="192023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dry-run 執行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Microsoft JhengHei"/>
              </a:rPr>
              <a:t>輸出結果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20040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Phase 的 7 種 expected output：</a:t>
            </a:r>
            <a:r>
              <a:rPr sz="1300" b="1" i="0">
                <a:solidFill>
                  <a:srgbClr val="1D4ED8"/>
                </a:solidFill>
                <a:latin typeface="Consolas"/>
              </a:rPr>
              <a:t>raw_data → transform → verdict → chart → table → scalar → alarm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每個 phase 由一個 block『覆蓋』完成；phase_verifier 用 block 的 </a:t>
            </a:r>
            <a:r>
              <a:rPr sz="1200" b="1" i="0">
                <a:solidFill>
                  <a:srgbClr val="067647"/>
                </a:solidFill>
                <a:latin typeface="Consolas"/>
              </a:rPr>
              <a:t>produces.covers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 配對 phase.expected。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343400"/>
            <a:ext cx="11183112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phase_loop 裡 LLM 每 round 只發一個 tool call：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D4ED8"/>
                </a:solidFill>
                <a:latin typeface="Consolas"/>
              </a:rPr>
              <a:t>inspect_node_output</a:t>
            </a:r>
            <a:r>
              <a:rPr sz="1200" b="0" i="0">
                <a:solidFill>
                  <a:srgbClr val="1F2933"/>
                </a:solidFill>
                <a:latin typeface="Microsoft JhengHei"/>
              </a:rPr>
              <a:t> 看上游資料　</a:t>
            </a:r>
            <a:r>
              <a:rPr sz="1200" b="1" i="0">
                <a:solidFill>
                  <a:srgbClr val="1D4ED8"/>
                </a:solidFill>
                <a:latin typeface="Consolas"/>
              </a:rPr>
              <a:t>inspect_block_doc</a:t>
            </a:r>
            <a:r>
              <a:rPr sz="1200" b="0" i="0">
                <a:solidFill>
                  <a:srgbClr val="1F2933"/>
                </a:solidFill>
                <a:latin typeface="Microsoft JhengHei"/>
              </a:rPr>
              <a:t> 讀 block 文件　</a:t>
            </a:r>
            <a:r>
              <a:rPr sz="1200" b="1" i="0">
                <a:solidFill>
                  <a:srgbClr val="1D4ED8"/>
                </a:solidFill>
                <a:latin typeface="Consolas"/>
              </a:rPr>
              <a:t>add_node / connect / set_param</a:t>
            </a:r>
            <a:r>
              <a:rPr sz="1200" b="0" i="0">
                <a:solidFill>
                  <a:srgbClr val="1F2933"/>
                </a:solidFill>
                <a:latin typeface="Microsoft JhengHei"/>
              </a:rPr>
              <a:t> 改 canvas　</a:t>
            </a:r>
            <a:r>
              <a:rPr sz="1200" b="1" i="0">
                <a:solidFill>
                  <a:srgbClr val="1D4ED8"/>
                </a:solidFill>
                <a:latin typeface="Consolas"/>
              </a:rPr>
              <a:t>run_verifier</a:t>
            </a:r>
            <a:r>
              <a:rPr sz="1200" b="0" i="0">
                <a:solidFill>
                  <a:srgbClr val="1F2933"/>
                </a:solidFill>
                <a:latin typeface="Microsoft JhengHei"/>
              </a:rPr>
              <a:t> 觸發驗證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param key 必須 100% 來自 param_schema（不准同義詞）；8 round 後（chart/alarm 12）verifier 自動觸發。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Agent 行為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AGENT 行為 · 自我修正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卡住怎麼辦：有界修正 + 人工接手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每條修正路徑都有 graph 控制的預算上限 — 防止 LLM 無限繞圈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01828"/>
                </a:solidFill>
                <a:latin typeface="Microsoft JhengHei"/>
              </a:rPr>
              <a:t>升級路徑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D28D9"/>
                </a:solidFill>
                <a:latin typeface="Microsoft JhengHei"/>
              </a:rPr>
              <a:t>1  phase_loop 跑完 round 仍沒過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67085"/>
                </a:solidFill>
                <a:latin typeface="Microsoft JhengHei"/>
              </a:rPr>
              <a:t>     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54708"/>
                </a:solidFill>
                <a:latin typeface="Microsoft JhengHei"/>
              </a:rPr>
              <a:t>2  phase_revise（LLM 自省）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     找根因 + 提 1 個替代策略 + 列能力缺口；只給 1 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67085"/>
                </a:solidFill>
                <a:latin typeface="Microsoft JhengHei"/>
              </a:rPr>
              <a:t>     ↓ 還是不行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2318"/>
                </a:solidFill>
                <a:latin typeface="Microsoft JhengHei"/>
              </a:rPr>
              <a:t>3  halt_handover（interrupt 交給人）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     user 選：edit_goal / take_over / backlog / abort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67647"/>
                </a:solidFill>
                <a:latin typeface="Consolas"/>
              </a:rPr>
              <a:t>inspect_execution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 另抓語意反模式：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時序圖只有 &lt;3 個 x 點 → 幾乎一定是上游被加了 limit=1，自動標記讓 reflect 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54864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27064" y="1417320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預算 / 上限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3224" y="141732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965960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graph recursion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3224" y="196596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onsolas"/>
              </a:rPr>
              <a:t>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514600"/>
            <a:ext cx="54864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2514600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ReAct round /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3224" y="251460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onsolas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3063240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phase revise /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306324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onsola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611880"/>
            <a:ext cx="54864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3611880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reflect_plan 次數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3224" y="361188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4160520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leaf prune 觸發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3224" y="416052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onsolas"/>
              </a:rPr>
              <a:t>3 次 reject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709159"/>
            <a:ext cx="54864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4709159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fast-forward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4709159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onsolas"/>
              </a:rPr>
              <a:t>4 phase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5257799"/>
            <a:ext cx="35112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inspect / 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5257799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onsolas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141274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196138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251002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305866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60730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415594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470458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525322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5801868"/>
            <a:ext cx="548640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Agent 行為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CONTEXT ENGINEERING (1/2)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每一 round 的 Observation 怎麼組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48640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00" cy="41148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08176"/>
            <a:ext cx="5029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13 段式 Observation（round 1 全量）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已完成 phase｜當前 phase 目標｜verifier 回饋｜全 phase 脈絡｜可用 inputs｜canvas 節點 schema｜可接線選項｜近 6 步行動史｜user 指令｜matching blocks｜完整 catalog｜subphase 提示｜canvas 快照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7647"/>
                </a:solidFill>
                <a:latin typeface="Microsoft JhengHei"/>
              </a:rPr>
              <a:t>Round 2+ 只送 delta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（canvas_diff + verifier 回饋 + phase 目標），訊息堆疊上限 32、指令截 600 字 — 把 token 壓住。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486400" cy="4617720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 w="12700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50292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分層 Catalog（目錄不是教科書）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Tier 1 — 約 10 個核心 block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完整描述（≤1500 字）+ param_schema 直接 inline；agent 不用先 inspect 就能選。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Tier 2 — 其餘所有 block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只給一行索引；加進 canvas 前必須先 inspect_block_doc，否則 verifier 以『param 猜錯』退回。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647"/>
                </a:solidFill>
                <a:latin typeface="Consolas"/>
              </a:rPr>
              <a:t>matching_blocks</a:t>
            </a:r>
            <a:r>
              <a:rPr sz="1200" b="0" i="0">
                <a:solidFill>
                  <a:srgbClr val="1F2933"/>
                </a:solidFill>
                <a:latin typeface="Microsoft JhengHei"/>
              </a:rPr>
              <a:t> 再依當前 phase.expected 的 covers 過濾，只給相關 block — 雙層收斂。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Context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CONTEXT ENGINEERING (2/2)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成本槓桿：Prompt Cache + 主動 RAG 查詢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67647"/>
                </a:solidFill>
                <a:latin typeface="Microsoft JhengHei"/>
              </a:rPr>
              <a:t>Prompt Cache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那段大 observation prefix 每 round 重複 → cache 命中率 = 成本主槓桿。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•  system + tools + 最後一則訊息打上 </a:t>
            </a:r>
            <a:r>
              <a:rPr sz="1150" b="1" i="0">
                <a:solidFill>
                  <a:srgbClr val="067647"/>
                </a:solidFill>
                <a:latin typeface="Consolas"/>
              </a:rPr>
              <a:t>cache_control: ephemeral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•  用 </a:t>
            </a:r>
            <a:r>
              <a:rPr sz="1150" b="1" i="0">
                <a:solidFill>
                  <a:srgbClr val="067647"/>
                </a:solidFill>
                <a:latin typeface="Consolas"/>
              </a:rPr>
              <a:t>OPENROUTER_PROVIDER_ORDER=Fireworks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 釘住會吐 cache 的 provider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•  實測命中 </a:t>
            </a:r>
            <a:r>
              <a:rPr sz="1300" b="1" i="0">
                <a:solidFill>
                  <a:srgbClr val="067647"/>
                </a:solidFill>
                <a:latin typeface="Microsoft JhengHei"/>
              </a:rPr>
              <a:t>40–58%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；後續 round 只付新增 token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•  provider 選錯差 ~8×（GLM DeepInfra 299s vs Fireworks 35s）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27632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從『推全清單』改『LLM 主動查』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早期把整份 catalog 塞進 prompt → verbose catalog 反而誘發 over-build。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改為按需查詢工具：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onsolas"/>
              </a:rPr>
              <a:t>query_blocks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　依語意找 block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onsolas"/>
              </a:rPr>
              <a:t>query_columns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　找欄位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D4ED8"/>
                </a:solidFill>
                <a:latin typeface="Consolas"/>
              </a:rPr>
              <a:t>query_connectable_sources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　找可接來源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效果：catalog 當『目錄』、深文件 lazy-load，prompt 精簡又夠用。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Context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MEMORY / KNOWLEDGE (1/2)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兩種知識來源 + 向量檢索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知識存在 DB（Postgres + pgvector），不寫死在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53492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08760"/>
            <a:ext cx="177393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1" y="1508760"/>
            <a:ext cx="479145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JhengHei"/>
              </a:rPr>
              <a:t>agent_knowledge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472" y="1508760"/>
            <a:ext cx="4453128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JhengHei"/>
              </a:rPr>
              <a:t>block_docs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43684"/>
            <a:ext cx="177393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粒度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1" y="2043684"/>
            <a:ext cx="479145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pipeline / plan 級規則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2043684"/>
            <a:ext cx="4453128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單一 block 用法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11183112" cy="5349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578608"/>
            <a:ext cx="177393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存放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1" y="2578608"/>
            <a:ext cx="479145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agent_knowledge 表 + 1024 維向量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578608"/>
            <a:ext cx="4453128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block_docs 表（markdown）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113532"/>
            <a:ext cx="177393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欄位 / 結構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1" y="3113532"/>
            <a:ext cx="479145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applies_to · always_on · priority ·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3113532"/>
            <a:ext cx="4453128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frontmatter desc + body + column_docs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48456"/>
            <a:ext cx="11183112" cy="5349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648456"/>
            <a:ext cx="177393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檢索方式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1" y="3648456"/>
            <a:ext cx="479145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(1) always_on 高優先直推 (2) RAG cosine top-3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648456"/>
            <a:ext cx="4453128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inspect_block_doc 即時讀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183379"/>
            <a:ext cx="177393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用途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9151" y="4183379"/>
            <a:ext cx="4791456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形塑 phase 拆解、block 選擇規則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4183379"/>
            <a:ext cx="4453128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catalog 一行摘要 + 完整參數文件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50418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039112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574036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108960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3884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178807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713732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54708"/>
                </a:solidFill>
                <a:latin typeface="Microsoft JhengHei"/>
              </a:rPr>
              <a:t>Embedding：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Cohere embed-multilingual-v3.0（1024 維）；pgvector 寫入用 native </a:t>
            </a:r>
            <a:r>
              <a:rPr sz="1150" b="1" i="0">
                <a:solidFill>
                  <a:srgbClr val="B54708"/>
                </a:solidFill>
                <a:latin typeface="Consolas"/>
              </a:rPr>
              <a:t>CAST(:vec AS vector)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（JPA 不能隱式轉），背景每 30s 補沒 embedding 的列。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B54708"/>
                </a:solidFill>
                <a:latin typeface="Microsoft JhengHei"/>
              </a:rPr>
              <a:t>為何要 always_on 直推：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中文長查詢的向量召回偶爾會 miss，第一性原則（SPC=站級、APC=recipe 級）必須無條件到達。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Memory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MEMORY / KNOWLEDGE (2/2)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分層注入：對的知識到對的 Agent 層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Plan 層與 Execute 層各取各的（V58 / V59）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53896"/>
            <a:ext cx="5120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Plan 層（goal_plan，整段開頭一次）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116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注入 always_on 核心 + plan-RAG top-3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applies_to ∈ {plan, both}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形塑意圖拆解（如『全廠查詢 → list_objects + foreach』）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4864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5486400" cy="4572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53896"/>
            <a:ext cx="5120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Execute 層（phase_loop，每 phase 進入時）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0116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D28D9"/>
                </a:solidFill>
                <a:latin typeface="Microsoft JhengHei"/>
              </a:rPr>
              <a:t>•  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只注入 execute-RAG top-3，不倒 always_on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D28D9"/>
                </a:solidFill>
                <a:latin typeface="Microsoft JhengHei"/>
              </a:rPr>
              <a:t>•  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applies_to ∈ {execute, both}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D28D9"/>
                </a:solidFill>
                <a:latin typeface="Microsoft JhengHei"/>
              </a:rPr>
              <a:t>•  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引導當下 phase 的 block / param 選擇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為何要分層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goal_plan 設計上 block-agnostic（只出意圖）；『該選哪個 block』的知識若只在 plan 層讀，意圖被具體化後就遺失 — 必須送到真正選 block 的 phase_loop。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148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對話記憶（Session）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  <a:latin typeface="Consolas"/>
              </a:rPr>
              <a:t>agent_sessions</a:t>
            </a:r>
            <a:r>
              <a:rPr sz="1200" b="0" i="0">
                <a:solidFill>
                  <a:srgbClr val="1F2933"/>
                </a:solidFill>
                <a:latin typeface="Microsoft JhengHei"/>
              </a:rPr>
              <a:t> 存跨 turn 的訊息歷史 + 累計 token + 最後 pipeline；知識則每 turn 從 DB 重新取（不快取在 session），確保拿到最新規則。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Memory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BLOCK / SKILL DOCUMENT 設計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Description = 唯一文件來源（1 寫、3 讀）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改一個 DB 欄位，三個讀者立即同步，不需改 prompt、不需重部署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17904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pb_blocks row（單一寫入）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DC0FF"/>
                </a:solidFill>
                <a:latin typeface="Consolas"/>
              </a:rPr>
              <a:t>description · param_schema ·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331720"/>
            <a:ext cx="27432" cy="59436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92608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926080"/>
            <a:ext cx="3520440" cy="4114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3246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Glass Box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建 pipeline 時讀 description 判斷『這 block 回傳什麼』、param_schema 驗參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8736" y="2331720"/>
            <a:ext cx="27432" cy="59436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292608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2926080"/>
            <a:ext cx="3520440" cy="4114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962656"/>
            <a:ext cx="3246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Block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42900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回答『這 block 怎麼用 / A vs B』；參數段由 schema 直接 render，不讓 LLM 幻覺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2331720"/>
            <a:ext cx="27432" cy="59436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5592" y="292608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2926080"/>
            <a:ext cx="3520440" cy="41148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962656"/>
            <a:ext cx="3246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BlockDocsDrawer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342900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給人看的 UI；同一份 description / schema / examples 直接呈現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54708"/>
                </a:solidFill>
                <a:latin typeface="Microsoft JhengHei"/>
              </a:rPr>
              <a:t>最高原則（CLAUDE.md #0）：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LLM prompt 禁止 hardcode MCP / block 的用法、參數範例、回傳格式 — LLM 看不到 source code，只看得到 description。三邊不一致 = description 過時。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Document 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BLOCK / SKILL DOCUMENT 設計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Block 結構、covers 配對、與 5 點不變式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01828"/>
                </a:solidFill>
                <a:latin typeface="Microsoft JhengHei"/>
              </a:rPr>
              <a:t>pb_blocks 欄位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onsolas"/>
              </a:rPr>
              <a:t>name · category · description · param_schema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1D4ED8"/>
                </a:solidFill>
                <a:latin typeface="Consolas"/>
              </a:rPr>
              <a:t>input/output_schema · examples · implementation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67647"/>
                </a:solidFill>
                <a:latin typeface="Consolas"/>
              </a:rPr>
              <a:t>produces.covers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 — 宣告此 block 產出哪種 phase 意圖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F2933"/>
                </a:solidFill>
                <a:latin typeface="Consolas"/>
              </a:rPr>
              <a:t>{ raw_data · transform · chart · verdict · scalar · alarm 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phase_verifier 用 covers 把 phase.expected 配對到正確 block；一個 block 可同時 cover 多種（如 threshold = verdict + scalar）。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01828"/>
                </a:solidFill>
                <a:latin typeface="Microsoft JhengHei"/>
              </a:rPr>
              <a:t>新增 block = 改 5 個地方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1  blocks/&lt;name&gt;.py　executor 實作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2  __init__.py　BUILTIN_EXECUTORS 註冊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3  real_executor.py　SIDECAR_NATIVE 白名單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4  seed.py　catalog 定義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1F2933"/>
                </a:solidFill>
                <a:latin typeface="Microsoft JhengHei"/>
              </a:rPr>
              <a:t>5  Flyway V**.sql　DB row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7647"/>
                </a:solidFill>
                <a:latin typeface="Microsoft JhengHei"/>
              </a:rPr>
              <a:t>開機不變式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 印出『N builtin = native = seed = DB』必須相等（今約 57），缺一個就清楚報哪裡漏。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V54：System MCP 勾選即用 Haiku 自動生 block + skill 草稿（mcp_proxy），永遠當草稿，user review 後才 commit。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Document 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【最新版】SKILL → AUTO PATROL / AUTO CHECK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新模型 skills_v2：一條 skill = 一條 pipeline + 自動化欄位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0" i="0">
                <a:solidFill>
                  <a:srgbClr val="CEDCF5"/>
                </a:solidFill>
                <a:latin typeface="Microsoft JhengHei"/>
              </a:rPr>
              <a:t>V66（2026-06-28）取代舊的多步 skill_documents；V68 已 drop 舊表 — 這是目前 canonical 路徑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67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657600" cy="457200"/>
          </a:xfrm>
          <a:prstGeom prst="rect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3438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48840"/>
            <a:ext cx="332841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67085"/>
                </a:solidFill>
                <a:latin typeface="Microsoft JhengHei"/>
              </a:rPr>
              <a:t>無自動化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純手動執行的 skill；trigger / gate / outcome 皆 NULL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676" y="160020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5676" y="1600200"/>
            <a:ext cx="3657600" cy="4572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5404" y="1636776"/>
            <a:ext cx="3438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patrol  = Auto Patrol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268" y="2148840"/>
            <a:ext cx="332841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B42318"/>
                </a:solidFill>
                <a:latin typeface="Microsoft JhengHei"/>
              </a:rPr>
              <a:t>自動化 + has_alarm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pipeline 含 verdict 判斷式 → 條件達標會發 alarm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0020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600200"/>
            <a:ext cx="3657600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36776"/>
            <a:ext cx="3438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</a:rPr>
              <a:t>datacheck = Auto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148840"/>
            <a:ext cx="3328416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D4ED8"/>
                </a:solidFill>
                <a:latin typeface="Microsoft JhengHei"/>
              </a:rPr>
              <a:t>自動化 + 無 alarm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排程跑分析、產資料，但不發 alarm（outcome = data only）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11183112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關鍵設計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role 是衍生的：</a:t>
            </a:r>
            <a:r>
              <a:rPr sz="1200" b="1" i="0">
                <a:solidFill>
                  <a:srgbClr val="B42318"/>
                </a:solidFill>
                <a:latin typeface="Consolas"/>
              </a:rPr>
              <a:t>has_alarm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 由『pipeline 是否含 verdict node（block_step_check, isVerdict）』決定 — 沒判斷式就不能升 patrol。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自動化是同一 row 上的欄位：</a:t>
            </a:r>
            <a:r>
              <a:rPr sz="1200" b="1" i="0">
                <a:solidFill>
                  <a:srgbClr val="1D4ED8"/>
                </a:solidFill>
                <a:latin typeface="Consolas"/>
              </a:rPr>
              <a:t>trigger_config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 (JSON: kind=schedule|event、schedule_spec、target、tool/source/event) · </a:t>
            </a:r>
            <a:r>
              <a:rPr sz="1200" b="1" i="0">
                <a:solidFill>
                  <a:srgbClr val="1D4ED8"/>
                </a:solidFill>
                <a:latin typeface="Consolas"/>
              </a:rPr>
              <a:t>alarm_gate</a:t>
            </a:r>
            <a:r>
              <a:rPr sz="1250" b="0" i="0">
                <a:solidFill>
                  <a:srgbClr val="1F2933"/>
                </a:solidFill>
                <a:latin typeface="Microsoft JhengHei"/>
              </a:rPr>
              <a:t> · </a:t>
            </a:r>
            <a:r>
              <a:rPr sz="1200" b="1" i="0">
                <a:solidFill>
                  <a:srgbClr val="1D4ED8"/>
                </a:solidFill>
                <a:latin typeface="Consolas"/>
              </a:rPr>
              <a:t>outcome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。一條 SQL 取完，免 JOIN。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•  排程器永遠讀 </a:t>
            </a:r>
            <a:r>
              <a:rPr sz="1200" b="1" i="0">
                <a:solidFill>
                  <a:srgbClr val="067647"/>
                </a:solidFill>
                <a:latin typeface="Consolas"/>
              </a:rPr>
              <a:t>schedule_spec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（結構化），絕不 parse 顯示用的中文字串『每 1 小時』— flow 由結構決定，不靠字串解析。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Skill → Auto Patrol / Check【新版】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【最新版】端到端資料流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從『被撰寫的 skill』到『自動發出的 alarm』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76809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640080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6400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36192"/>
            <a:ext cx="681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D4ED8"/>
                </a:solidFill>
                <a:latin typeface="Microsoft JhengHei"/>
              </a:rPr>
              <a:t>撰寫 + saveAutomation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skills_v2 UI 設 role / trigger / gate；normalize 出 schedule_spec，寫成 1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23113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67085"/>
                </a:solidFill>
                <a:latin typeface="Microsoft Jheng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76809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64008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6400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68880"/>
            <a:ext cx="681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D28D9"/>
                </a:solidFill>
                <a:latin typeface="Microsoft JhengHei"/>
              </a:rPr>
              <a:t>排程器 tick（每 60s）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isDueV2 讀 schedule_spec 判斷到期；event 型則由上游 alarm 觸發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163824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67085"/>
                </a:solidFill>
                <a:latin typeface="Microsoft JhengHe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76809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28416"/>
            <a:ext cx="640080" cy="786384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28416"/>
            <a:ext cx="6400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01568"/>
            <a:ext cx="681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54708"/>
                </a:solidFill>
                <a:latin typeface="Microsoft JhengHei"/>
              </a:rPr>
              <a:t>dispatch + fan-out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『所有機台』且 pipeline 帶 $tool_id → 每台一個 run（{tool_id} 注入）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09651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67085"/>
                </a:solidFill>
                <a:latin typeface="Microsoft Jheng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61104"/>
            <a:ext cx="76809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61104"/>
            <a:ext cx="640080" cy="786384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61104"/>
            <a:ext cx="6400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334256"/>
            <a:ext cx="681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7647"/>
                </a:solidFill>
                <a:latin typeface="Microsoft JhengHei"/>
              </a:rPr>
              <a:t>Runner 執行 pipeline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POST sidecar /internal/pipeline/execute；extractVerdict 掃出 pass:bool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02920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67085"/>
                </a:solidFill>
                <a:latin typeface="Microsoft JhengHe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93792"/>
            <a:ext cx="76809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193792"/>
            <a:ext cx="640080" cy="78638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193792"/>
            <a:ext cx="6400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66944"/>
            <a:ext cx="6812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42318"/>
                </a:solidFill>
                <a:latin typeface="Microsoft JhengHei"/>
              </a:rPr>
              <a:t>發 alarm + 事件擴散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role=patrol &amp; has_alarm &amp; verdict=TRUE → AlarmEntity；再扇出給下游訂閱 skill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1463040"/>
            <a:ext cx="3273552" cy="2240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1627632"/>
            <a:ext cx="292608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D4ED8"/>
                </a:solidFill>
                <a:latin typeface="Microsoft JhengHei"/>
              </a:rPr>
              <a:t>追蹤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每次執行都寫 </a:t>
            </a:r>
            <a:r>
              <a:rPr sz="1150" b="1" i="0">
                <a:solidFill>
                  <a:srgbClr val="1D4ED8"/>
                </a:solidFill>
                <a:latin typeface="Consolas"/>
              </a:rPr>
              <a:t>skill_runs</a:t>
            </a:r>
            <a:r>
              <a:rPr sz="1200" b="0" i="0">
                <a:solidFill>
                  <a:srgbClr val="1F2933"/>
                </a:solidFill>
                <a:latin typeface="Microsoft JhengHei"/>
              </a:rPr>
              <a:t> 一列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沒發 alarm 時記 </a:t>
            </a:r>
            <a:r>
              <a:rPr sz="1100" b="1" i="0">
                <a:solidFill>
                  <a:srgbClr val="1D4ED8"/>
                </a:solidFill>
                <a:latin typeface="Consolas"/>
              </a:rPr>
              <a:t>alarm_skipped_reason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→ patrol-activity 漏斗可逐關追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840480"/>
            <a:ext cx="3273552" cy="210312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4005072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B54708"/>
                </a:solidFill>
                <a:latin typeface="Microsoft JhengHei"/>
              </a:rPr>
              <a:t>語意（重要）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42318"/>
                </a:solidFill>
                <a:latin typeface="Consolas"/>
              </a:rPr>
              <a:t>verdict pass = TRUE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= 條件達標 = 有問題 = 發 alarm。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『檢查有符合』才是異常，不是正常。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  ·  Skill → Auto Patrol / Check【新版】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總結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</a:rPr>
              <a:t>五個帶得走的設計原則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72184"/>
            <a:ext cx="6400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D4ED8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10149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Flow 在 graph，LLM 只 reason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下一步由 graph node 決定（可單測 / 可 trace）；LLM 只做分類、抽參、規劃、寫答。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50008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6400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D4ED8"/>
                </a:solidFill>
                <a:latin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41448"/>
            <a:ext cx="10149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Document = 單一事實來源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block / skill 的 description·schema·examples 一處寫、三處讀（Agent / Advisor / UI），不 drift、不重部署。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82696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6400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D4ED8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74136"/>
            <a:ext cx="10149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Context engineering 兼顧連貫與成本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13 段 observation + 分層 catalog + round delta + prompt cache（命中 40–58%）；catalog 是目錄不是教科書。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15384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70248"/>
            <a:ext cx="6400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D4ED8"/>
                </a:solidFill>
                <a:latin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06824"/>
            <a:ext cx="10149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知識分層注入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agent_knowledge 依 applies_to 分 plan / execute；always_on 直推第一性原則，其餘走 pgvector RAG。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48072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02936"/>
            <a:ext cx="6400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D4ED8"/>
                </a:solidFill>
                <a:latin typeface="Microsoft Jheng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39512"/>
            <a:ext cx="10149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skills_v2 把文件化 skill 變自動巡檢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同一條 pipeline，加幾個欄位（role / trigger / gate）就成 Auto Patrol 或 Auto Check；has_alarm 由 verdict node 衍生。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AIOps 智能 Agent 平台 — 架構與設計分享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