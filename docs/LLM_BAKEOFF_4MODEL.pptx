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1">
                <a:solidFill>
                  <a:srgbClr val="9DC0FF"/>
                </a:solidFill>
                <a:latin typeface="Microsoft JhengHei"/>
              </a:rPr>
              <a:t>Builder Agent · LLM 選型 · 四方彙總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KIMI · GLM-5.2 · Sonnet 5 · Opus 4.8 · MA-P0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CEDCF5"/>
                </a:solidFill>
                <a:latin typeface="Microsoft JhengHei"/>
              </a:rPr>
              <a:t>SLASH-17 端到端 bake-off — 每個模型各一頁完整結果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結論:</a:t>
            </a:r>
            <a:r>
              <a:rPr sz="1300" b="0">
                <a:solidFill>
                  <a:srgbClr val="CEDCF5"/>
                </a:solidFill>
                <a:latin typeface="Microsoft JhengHei"/>
              </a:rPr>
              <a:t>GLM-5.2 = cost-right 預設(品質接近頂級、成本最低、cache 唯一有效)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CEDCF5"/>
                </a:solidFill>
                <a:latin typeface="Microsoft JhengHei"/>
              </a:rPr>
              <a:t>Opus 4.8 品質天花板但 ~20× 成本(direct+cache) · Sonnet 5 被 GLM 支配 · KIMI 已淘汰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9DC0FF"/>
                </a:solidFill>
                <a:latin typeface="Microsoft JhengHei"/>
              </a:rPr>
              <a:t>總表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四方一眼對照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55680" cy="534924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9202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指標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17320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KIMI K2.5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GLM-5.2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Sonnet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417320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Opus 4.8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417320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GLM@MA-P0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52243"/>
            <a:ext cx="11155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52243"/>
            <a:ext cx="19202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F2933"/>
                </a:solidFill>
                <a:latin typeface="Microsoft JhengHei"/>
              </a:rPr>
              <a:t>嚴格通過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952243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~14/17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52243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~14/17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52243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15/17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952243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16/17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952243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17/17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487168"/>
            <a:ext cx="11155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87168"/>
            <a:ext cx="19202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F2933"/>
                </a:solidFill>
                <a:latin typeface="Microsoft JhengHei"/>
              </a:rPr>
              <a:t>寬鬆(功能可用)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487168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15/17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487168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17/17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87168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~17/17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487168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~17/17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487168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17/17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22091"/>
            <a:ext cx="11155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022091"/>
            <a:ext cx="19202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F2933"/>
                </a:solidFill>
                <a:latin typeface="Microsoft JhengHei"/>
              </a:rPr>
              <a:t>跑完全套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022091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73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022091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28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022091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24.4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022091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23.5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022091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22.3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557015"/>
            <a:ext cx="11155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557015"/>
            <a:ext cx="19202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F2933"/>
                </a:solidFill>
                <a:latin typeface="Microsoft JhengHei"/>
              </a:rPr>
              <a:t>LLM 呼叫/round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557015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229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557015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163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557015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229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557015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164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557015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237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091939"/>
            <a:ext cx="11155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091939"/>
            <a:ext cx="19202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F2933"/>
                </a:solidFill>
                <a:latin typeface="Microsoft JhengHei"/>
              </a:rPr>
              <a:t>Prompt cache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4091939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091939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40–58%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091939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63%*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091939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52%*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4091939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54.7%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626864"/>
            <a:ext cx="11155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626864"/>
            <a:ext cx="19202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F2933"/>
                </a:solidFill>
                <a:latin typeface="Microsoft JhengHei"/>
              </a:rPr>
              <a:t>公平成本/17*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4626864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~$3–4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626864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~$1–3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626864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$11.6*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4626864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$52*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4626864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~$1.3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161788"/>
            <a:ext cx="11155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161788"/>
            <a:ext cx="19202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F2933"/>
                </a:solidFill>
                <a:latin typeface="Microsoft JhengHei"/>
              </a:rPr>
              <a:t>相對 GLM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5161788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~1.5×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161788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1×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5161788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~5×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5161788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~20×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5161788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1×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696712"/>
            <a:ext cx="11155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696712"/>
            <a:ext cx="192024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1F2933"/>
                </a:solidFill>
                <a:latin typeface="Microsoft JhengHei"/>
              </a:rPr>
              <a:t>定位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0" y="5696712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淘汰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0" y="5696712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預設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696712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無角色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20" y="5696712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升級層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5696712"/>
            <a:ext cx="1737360" cy="5349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1F2933"/>
                </a:solidFill>
                <a:latin typeface="Microsoft JhengHei"/>
              </a:rPr>
              <a:t>現行 prod 架構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323075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01828"/>
                </a:solidFill>
                <a:latin typeface="Microsoft JhengHei"/>
              </a:rPr>
              <a:t>真正分高下只有 2 案:</a:t>
            </a:r>
            <a:r>
              <a:rPr sz="1250" b="0">
                <a:solidFill>
                  <a:srgbClr val="1F2933"/>
                </a:solidFill>
                <a:latin typeface="Microsoft JhengHei"/>
              </a:rPr>
              <a:t>xbar_r(只有 GLM+Opus 建對管制圖)、weco_rules(四家幾乎都漏 = 系統層弱點)。其餘 15 案四模型都對。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67085"/>
                </a:solidFill>
                <a:latin typeface="Microsoft JhengHei"/>
              </a:rPr>
              <a:t>* Sonnet/Opus 成本與 cache 為 2026-07-02 direct Anthropic + cache 補測(公平值);bakeoff 當日走 OpenRouter 無 cache 為 $18.7 / $68.6。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667085"/>
                </a:solidFill>
                <a:latin typeface="Microsoft JhengHei"/>
              </a:rPr>
              <a:t>Builder LLM 四方 bake-off · SLASH-17 · 2026-07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9DC0FF"/>
                </a:solidFill>
                <a:latin typeface="Microsoft JhengHei"/>
              </a:rPr>
              <a:t>每案結果 · CALLS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KIMI K2.5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337560" cy="470916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29260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94A3B8"/>
                </a:solidFill>
                <a:latin typeface="Microsoft JhengHei"/>
              </a:rPr>
              <a:t>關鍵指標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嚴格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~14/17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寬鬆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15/17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跑完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73 min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呼叫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229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cache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0%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成本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~$3–4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074920"/>
            <a:ext cx="2926080" cy="457200"/>
          </a:xfrm>
          <a:prstGeom prst="rect">
            <a:avLst/>
          </a:prstGeom>
          <a:solidFill>
            <a:srgbClr val="FEF3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B42318"/>
                </a:solidFill>
                <a:latin typeface="Microsoft JhengHei"/>
              </a:rPr>
              <a:t>已淘汰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55955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1F2933"/>
                </a:solidFill>
                <a:latin typeface="Microsoft JhengHei"/>
              </a:rPr>
              <a:t>最慢(73min)、cache 0%;2 案失敗(xbar_r/apc-drift)。2026-06-25 已被 GLM 取代。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371600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2232" y="137160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1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6c · 247s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8896" y="148132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879092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2" y="187909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2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spc-ooc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7909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22c · 263s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198882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386584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38658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3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spc-cpk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8658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8c · 200s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8896" y="249631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894076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289407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4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spc-multi-tool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9407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8c · 216s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8896" y="300380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401568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2232" y="3401568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5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401568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13c · 236s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511296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3909060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2232" y="390906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6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spc-xbar-r-pair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90906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7c · 119s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8896" y="4018788"/>
            <a:ext cx="502920" cy="283464"/>
          </a:xfrm>
          <a:prstGeom prst="rect">
            <a:avLst/>
          </a:prstGeom>
          <a:solidFill>
            <a:srgbClr val="FEF3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B42318"/>
                </a:solidFill>
                <a:latin typeface="Microsoft JhengHei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4416552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2" y="441655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7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spc-multi-step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1655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11c · 324s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68896" y="452628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4924044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42232" y="492404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8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spc-tool-box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92404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6c · 138s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03377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5431536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42232" y="543153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9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spc-normality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43153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6c · 125s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68896" y="554126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82127" y="1371600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137160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10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spc-cusum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7" y="137160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6c · 226s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81943" y="148132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82127" y="1879092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9" y="187909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11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apc-drift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7" y="187909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15c · 403s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81943" y="1988820"/>
            <a:ext cx="502920" cy="283464"/>
          </a:xfrm>
          <a:prstGeom prst="rect">
            <a:avLst/>
          </a:prstGeom>
          <a:solidFill>
            <a:srgbClr val="FEF3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B42318"/>
                </a:solidFill>
                <a:latin typeface="Microsoft JhengHei"/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2386584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238658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12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apc-trend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47" y="238658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40c · 533s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81943" y="249631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82127" y="2894076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79" y="289407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13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apc-recipe-compare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6647" y="289407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20c · 217s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81943" y="300380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82127" y="3401568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79" y="3401568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14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patrol-status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56647" y="3401568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29c · 366s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981943" y="3511296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3909060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79" y="390906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15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ooc-ranking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56647" y="390906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18c · 448s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81943" y="401878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82127" y="4416552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79" y="441655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16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ooc-pareto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56647" y="441655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8c · 191s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81943" y="452628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82127" y="4924044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55279" y="492404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17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step-yield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56647" y="492404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6c · 110s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81943" y="503377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667085"/>
                </a:solidFill>
                <a:latin typeface="Microsoft JhengHei"/>
              </a:rPr>
              <a:t>Builder LLM 四方 bake-off · SLASH-17 · 2026-07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9DC0FF"/>
                </a:solidFill>
                <a:latin typeface="Microsoft JhengHei"/>
              </a:rPr>
              <a:t>每案結果 · CALLS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GLM-5.2  （prod 預設）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337560" cy="4709160"/>
          </a:xfrm>
          <a:prstGeom prst="rect">
            <a:avLst/>
          </a:prstGeom>
          <a:solidFill>
            <a:srgbClr val="ECFDF3"/>
          </a:solidFill>
          <a:ln w="12700">
            <a:solidFill>
              <a:srgbClr val="067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29260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067647"/>
                </a:solidFill>
                <a:latin typeface="Microsoft JhengHei"/>
              </a:rPr>
              <a:t>關鍵指標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嚴格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~14/17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寬鬆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17/17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跑完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28 min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呼叫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163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cache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40–58%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成本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~$1–3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074920"/>
            <a:ext cx="2926080" cy="457200"/>
          </a:xfrm>
          <a:prstGeom prst="rect">
            <a:avLst/>
          </a:prstGeom>
          <a:solidFill>
            <a:srgbClr val="067647"/>
          </a:solidFill>
          <a:ln w="9525">
            <a:solidFill>
              <a:srgbClr val="067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prod 預設 [best]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55955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1F2933"/>
                </a:solidFill>
                <a:latin typeface="Microsoft JhengHei"/>
              </a:rPr>
              <a:t>寬鬆 17/17、xbar_r 建對、cache 唯一有效、成本最低。CP 值完勝,現行 prod。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371600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2232" y="137160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1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5c · 47s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8896" y="148132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879092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2" y="187909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2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spc-ooc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7909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21c · 288s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198882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386584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38658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3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spc-cpk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8658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6c · 218s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8896" y="249631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894076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289407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4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spc-multi-tool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9407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5c · 86s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8896" y="300380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401568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2232" y="3401568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5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401568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10c · 51s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511296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3909060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2232" y="390906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6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spc-xbar-r-pair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90906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5c · 58s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8896" y="401878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4416552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2" y="441655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7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spc-multi-step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1655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16c · 142s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68896" y="452628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4924044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42232" y="492404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8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spc-tool-box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92404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10c · 28s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03377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5431536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42232" y="543153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9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spc-normality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43153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6c · 40s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68896" y="554126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82127" y="1371600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137160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10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spc-cusum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7" y="137160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6c · 51s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81943" y="148132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82127" y="1879092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9" y="187909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11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apc-drift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7" y="187909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14c · 127s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81943" y="198882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2386584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238658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12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apc-trend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47" y="238658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5c · 44s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81943" y="249631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82127" y="2894076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79" y="289407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13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apc-recipe-compare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6647" y="289407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5c · 55s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81943" y="300380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82127" y="3401568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79" y="3401568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14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patrol-status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56647" y="3401568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24c · 205s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981943" y="3511296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3909060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79" y="390906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15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ooc-ranking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56647" y="390906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15c · 120s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81943" y="401878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82127" y="4416552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79" y="441655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16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ooc-pareto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56647" y="441655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5c · 95s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81943" y="452628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82127" y="4924044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55279" y="492404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17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step-yield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56647" y="492404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5c · 42s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81943" y="503377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667085"/>
                </a:solidFill>
                <a:latin typeface="Microsoft JhengHei"/>
              </a:rPr>
              <a:t>Builder LLM 四方 bake-off · SLASH-17 · 2026-07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9DC0FF"/>
                </a:solidFill>
                <a:latin typeface="Microsoft JhengHei"/>
              </a:rPr>
              <a:t>每案結果 · ROUNDS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Sonnet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337560" cy="470916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29260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1D4ED8"/>
                </a:solidFill>
                <a:latin typeface="Microsoft JhengHei"/>
              </a:rPr>
              <a:t>關鍵指標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嚴格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15/17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寬鬆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~17/17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跑完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24.4 min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round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229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cache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63%*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成本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$11.6*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074920"/>
            <a:ext cx="2926080" cy="457200"/>
          </a:xfrm>
          <a:prstGeom prst="rect">
            <a:avLst/>
          </a:prstGeom>
          <a:solidFill>
            <a:srgbClr val="FFFA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B54708"/>
                </a:solidFill>
                <a:latin typeface="Microsoft JhengHei"/>
              </a:rPr>
              <a:t>被 GLM 支配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55955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1F2933"/>
                </a:solidFill>
                <a:latin typeface="Microsoft JhengHei"/>
              </a:rPr>
              <a:t>嚴格 15/17(xbar_r 退化成折線)、direct+cache 成本 ~5× GLM。更貴又不更準,無採用理由。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371600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2232" y="137160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1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5r · 33s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8896" y="148132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879092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2" y="187909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2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spc-ooc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7909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21r · 116s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198882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386584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38658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3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spc-cpk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8658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36r · 306s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8896" y="249631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894076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289407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4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spc-multi-tool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9407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10r · 62s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8896" y="300380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401568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2232" y="3401568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5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401568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12r · 66s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511296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3909060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2232" y="390906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6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spc-xbar-r-pair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90906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9r · 57s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8896" y="4018788"/>
            <a:ext cx="502920" cy="283464"/>
          </a:xfrm>
          <a:prstGeom prst="rect">
            <a:avLst/>
          </a:prstGeom>
          <a:solidFill>
            <a:srgbClr val="FEF3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B42318"/>
                </a:solidFill>
                <a:latin typeface="Microsoft JhengHei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4416552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2" y="441655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7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spc-multi-step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1655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14r · 115s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68896" y="452628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4924044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42232" y="492404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8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spc-tool-box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92404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6r · 40s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03377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5431536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42232" y="543153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9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spc-normality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43153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15r · 102s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68896" y="554126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82127" y="1371600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137160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10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spc-cusum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7" y="137160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7r · 46s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81943" y="148132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82127" y="1879092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9" y="187909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11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apc-drift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7" y="187909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11r · 104s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81943" y="1988820"/>
            <a:ext cx="502920" cy="283464"/>
          </a:xfrm>
          <a:prstGeom prst="rect">
            <a:avLst/>
          </a:prstGeom>
          <a:solidFill>
            <a:srgbClr val="FEF3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B42318"/>
                </a:solidFill>
                <a:latin typeface="Microsoft JhengHei"/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2386584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238658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12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apc-trend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47" y="238658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3r · 26s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81943" y="249631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82127" y="2894076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79" y="289407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13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apc-recipe-compare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6647" y="289407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36r · 24s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81943" y="300380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82127" y="3401568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79" y="3401568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14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patrol-status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56647" y="3401568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17r · 134s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981943" y="3511296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3909060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79" y="390906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15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ooc-ranking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56647" y="390906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7r · 69s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81943" y="401878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82127" y="4416552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79" y="441655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16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ooc-pareto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56647" y="441655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14r · 126s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81943" y="452628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82127" y="4924044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55279" y="492404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17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step-yield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56647" y="492404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6r · 39s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81943" y="503377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667085"/>
                </a:solidFill>
                <a:latin typeface="Microsoft JhengHei"/>
              </a:rPr>
              <a:t>Builder LLM 四方 bake-off · SLASH-17 · 2026-07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9DC0FF"/>
                </a:solidFill>
                <a:latin typeface="Microsoft JhengHei"/>
              </a:rPr>
              <a:t>每案結果 · ROUNDS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Opus 4.8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337560" cy="4709160"/>
          </a:xfrm>
          <a:prstGeom prst="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29260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6D28D9"/>
                </a:solidFill>
                <a:latin typeface="Microsoft JhengHei"/>
              </a:rPr>
              <a:t>關鍵指標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嚴格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16/17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寬鬆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~17/17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跑完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23.5 min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round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164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cache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52%*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成本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$52*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074920"/>
            <a:ext cx="2926080" cy="457200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6D28D9"/>
                </a:solidFill>
                <a:latin typeface="Microsoft JhengHei"/>
              </a:rPr>
              <a:t>品質天花板 · 升級層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55955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1F2933"/>
                </a:solidFill>
                <a:latin typeface="Microsoft JhengHei"/>
              </a:rPr>
              <a:t>嚴格 16/17 最高、最果斷(164 round),只漏 weco_rules。direct+cache 實測 ~20× GLM 成本。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371600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2232" y="137160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1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12r · 135s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8896" y="148132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879092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2" y="187909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2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spc-ooc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7909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24r · 169s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198882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386584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38658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3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spc-cpk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8658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10r · 101s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8896" y="249631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894076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289407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4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spc-multi-tool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9407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11r · 93s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8896" y="300380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401568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2232" y="3401568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5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401568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12r · 115s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511296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3909060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2232" y="390906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6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spc-xbar-r-pair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90906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8r · 79s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8896" y="401878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4416552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2" y="441655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7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spc-multi-step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1655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6r · 50s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68896" y="452628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4924044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42232" y="492404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8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spc-tool-box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92404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7r · 61s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03377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5431536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42232" y="543153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9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spc-normality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43153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7r · 52s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68896" y="554126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82127" y="1371600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137160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10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spc-cusum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7" y="137160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8r · 77s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81943" y="148132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82127" y="1879092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9" y="187909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11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apc-drift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7" y="187909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8r · 78s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81943" y="1988820"/>
            <a:ext cx="502920" cy="283464"/>
          </a:xfrm>
          <a:prstGeom prst="rect">
            <a:avLst/>
          </a:prstGeom>
          <a:solidFill>
            <a:srgbClr val="FEF3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B42318"/>
                </a:solidFill>
                <a:latin typeface="Microsoft JhengHei"/>
              </a:rP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2386584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238658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12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apc-trend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47" y="238658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3r · 35s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81943" y="249631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82127" y="2894076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79" y="289407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13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apc-recipe-compare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6647" y="289407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12r · 39s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81943" y="300380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82127" y="3401568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79" y="3401568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14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patrol-status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56647" y="3401568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16r · 127s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981943" y="3511296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3909060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79" y="390906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15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ooc-ranking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56647" y="390906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6r · 71s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81943" y="401878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82127" y="4416552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79" y="441655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16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ooc-pareto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56647" y="441655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7r · 71s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81943" y="452628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82127" y="4924044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55279" y="492404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17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step-yield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56647" y="492404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7r · 58s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81943" y="503377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667085"/>
                </a:solidFill>
                <a:latin typeface="Microsoft JhengHei"/>
              </a:rPr>
              <a:t>Builder LLM 四方 bake-off · SLASH-17 · 2026-07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9DC0FF"/>
                </a:solidFill>
                <a:latin typeface="Microsoft JhengHei"/>
              </a:rPr>
              <a:t>每案結果 · ROUNDS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GLM-5.2 @ Multi-Agent P0  （第 5 種：新架構）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337560" cy="4709160"/>
          </a:xfrm>
          <a:prstGeom prst="rect">
            <a:avLst/>
          </a:prstGeom>
          <a:solidFill>
            <a:srgbClr val="ECFDF3"/>
          </a:solidFill>
          <a:ln w="12700">
            <a:solidFill>
              <a:srgbClr val="067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29260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067647"/>
                </a:solidFill>
                <a:latin typeface="Microsoft JhengHei"/>
              </a:rPr>
              <a:t>關鍵指標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嚴格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17/17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寬鬆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17/17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跑完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22.3 min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round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237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cache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54.7%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>
                <a:solidFill>
                  <a:srgbClr val="667085"/>
                </a:solidFill>
                <a:latin typeface="Microsoft JhengHei"/>
              </a:rPr>
              <a:t>成本  </a:t>
            </a:r>
            <a:r>
              <a:rPr sz="1500" b="1">
                <a:solidFill>
                  <a:srgbClr val="101828"/>
                </a:solidFill>
                <a:latin typeface="Microsoft JhengHei"/>
              </a:rPr>
              <a:t>~$1.3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074920"/>
            <a:ext cx="2926080" cy="457200"/>
          </a:xfrm>
          <a:prstGeom prst="rect">
            <a:avLst/>
          </a:prstGeom>
          <a:solidFill>
            <a:srgbClr val="067647"/>
          </a:solidFill>
          <a:ln w="9525">
            <a:solidFill>
              <a:srgbClr val="067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現行 prod 架構 [best]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55955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1F2933"/>
                </a:solidFill>
                <a:latin typeface="Microsoft JhengHei"/>
              </a:rPr>
              <a:t>同一顆 GLM-5.2,跑在 Planner/Builder/Repair 重構後 builder(2026-07-02)。17/17 在 GLM 12-15 變異帶上緣;嚴謹解讀=零回歸,非架構提升品質。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371600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2232" y="137160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1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6r · 25s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8896" y="148132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879092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2" y="187909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2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spc-ooc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7909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30r · 116s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198882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386584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38658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3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spc-cpk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8658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34r · 284s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8896" y="249631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894076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289407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4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spc-multi-tool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9407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12r · 50s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8896" y="300380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401568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2232" y="3401568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5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401568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17r · 79s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511296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3909060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2232" y="390906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6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spc-xbar-r-pair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90906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9r · 58s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8896" y="401878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4416552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2" y="441655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7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spc-multi-step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1655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8r · 31s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68896" y="452628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4924044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42232" y="492404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8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spc-tool-box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92404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7r · 113s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03377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5431536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42232" y="543153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 9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spc-normality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43153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9r · 29s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68896" y="554126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82127" y="1371600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137160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10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spc-cusum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7" y="137160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9r · 46s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81943" y="148132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82127" y="1879092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9" y="187909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11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apc-drift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6647" y="187909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12r · 134s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81943" y="198882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2386584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238658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12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apc-trend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47" y="238658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3r · 17s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81943" y="249631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82127" y="2894076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79" y="2894076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13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apc-recipe-compare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6647" y="2894076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34r · 19s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81943" y="3003804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82127" y="3401568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79" y="3401568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14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patrol-status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56647" y="3401568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39r · 158s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981943" y="3511296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3909060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79" y="3909060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15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ooc-ranking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56647" y="3909060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6r · 73s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81943" y="4018788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82127" y="4416552"/>
            <a:ext cx="3703320" cy="507492"/>
          </a:xfrm>
          <a:prstGeom prst="rect">
            <a:avLst/>
          </a:prstGeom>
          <a:solidFill>
            <a:srgbClr val="F8FAFC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79" y="4416552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16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ooc-pareto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56647" y="4416552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7r · 56s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81943" y="4526280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82127" y="4924044"/>
            <a:ext cx="3703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55279" y="4924044"/>
            <a:ext cx="201168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Consolas"/>
              </a:rPr>
              <a:t>17 </a:t>
            </a:r>
            <a:r>
              <a:rPr sz="1050" b="0">
                <a:solidFill>
                  <a:srgbClr val="1F2933"/>
                </a:solidFill>
                <a:latin typeface="Microsoft JhengHei"/>
              </a:rPr>
              <a:t>step-yield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56647" y="4924044"/>
            <a:ext cx="1005840" cy="50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667085"/>
                </a:solidFill>
                <a:latin typeface="Consolas"/>
              </a:rPr>
              <a:t>9r · 49s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81943" y="5033772"/>
            <a:ext cx="502920" cy="283464"/>
          </a:xfrm>
          <a:prstGeom prst="rect">
            <a:avLst/>
          </a:prstGeom>
          <a:solidFill>
            <a:srgbClr val="ECFDF3"/>
          </a:solidFill>
          <a:ln w="9525">
            <a:solidFill>
              <a:srgbClr val="A6F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067647"/>
                </a:solidFill>
                <a:latin typeface="Microsoft JhengHei"/>
              </a:rPr>
              <a:t>ok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667085"/>
                </a:solidFill>
                <a:latin typeface="Microsoft JhengHei"/>
              </a:rPr>
              <a:t>Builder LLM 四方 bake-off · SLASH-17 · 2026-07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9DC0FF"/>
                </a:solidFill>
                <a:latin typeface="Microsoft JhengHei"/>
              </a:rPr>
              <a:t>結論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定位與建議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83112" cy="1024128"/>
          </a:xfrm>
          <a:prstGeom prst="rect">
            <a:avLst/>
          </a:prstGeom>
          <a:solidFill>
            <a:srgbClr val="ECFDF3"/>
          </a:solidFill>
          <a:ln w="12700">
            <a:solidFill>
              <a:srgbClr val="067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067647"/>
                </a:solidFill>
                <a:latin typeface="Microsoft JhengHei"/>
              </a:rPr>
              <a:t>GLM-5.2 — prod 預設(不動)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933"/>
                </a:solidFill>
                <a:latin typeface="Microsoft JhengHei"/>
              </a:rPr>
              <a:t>嚴格品質與 Opus 僅差 1 案(xbar_r 也做對),成本最低、cache 唯一有效、速度最快 tier。CP 值完勝。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23744"/>
            <a:ext cx="11183112" cy="1024128"/>
          </a:xfrm>
          <a:prstGeom prst="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3347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6D28D9"/>
                </a:solidFill>
                <a:latin typeface="Microsoft JhengHei"/>
              </a:rPr>
              <a:t>Opus 4.8 — 難題升級層(on-demand)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933"/>
                </a:solidFill>
                <a:latin typeface="Microsoft JhengHei"/>
              </a:rPr>
              <a:t>嚴格 16/17 最高。direct+cache 實測 ~20× GLM 成本。只在 fleet/composite/特定管制圖人工升級時叫用,且走 direct Anthropic 才有 cache。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75887"/>
            <a:ext cx="11183112" cy="1024128"/>
          </a:xfrm>
          <a:prstGeom prst="rect">
            <a:avLst/>
          </a:prstGeom>
          <a:solidFill>
            <a:srgbClr val="FFFAEB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85615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B54708"/>
                </a:solidFill>
                <a:latin typeface="Microsoft JhengHei"/>
              </a:rPr>
              <a:t>Sonnet 5 — 無角色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933"/>
                </a:solidFill>
                <a:latin typeface="Microsoft JhengHei"/>
              </a:rPr>
              <a:t>嚴格 15/17(xbar_r 退化),direct+cache 成本仍 ~5× GLM。比 GLM 貴又不更準。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28031"/>
            <a:ext cx="11183112" cy="1024128"/>
          </a:xfrm>
          <a:prstGeom prst="rect">
            <a:avLst/>
          </a:prstGeom>
          <a:solidFill>
            <a:srgbClr val="FEF3F2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37759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B42318"/>
                </a:solidFill>
                <a:latin typeface="Microsoft JhengHei"/>
              </a:rPr>
              <a:t>KIMI K2.5 — 已淘汰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1F2933"/>
                </a:solidFill>
                <a:latin typeface="Microsoft JhengHei"/>
              </a:rPr>
              <a:t>最慢、cache 0%、品質不優於 GLM。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98463"/>
            <a:ext cx="11183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1828"/>
                </a:solidFill>
                <a:latin typeface="Microsoft JhengHei"/>
              </a:rPr>
              <a:t>共同待辦:</a:t>
            </a:r>
            <a:r>
              <a:rPr sz="1250" b="0">
                <a:solidFill>
                  <a:srgbClr val="1F2933"/>
                </a:solidFill>
                <a:latin typeface="Microsoft JhengHei"/>
              </a:rPr>
              <a:t>apc-drift 的 weco_rules 四模型皆弱 → 修 knowledge / block doc,換模型無效。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37376"/>
            <a:ext cx="100584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667085"/>
                </a:solidFill>
                <a:latin typeface="Microsoft JhengHei"/>
              </a:rPr>
              <a:t>Builder LLM 四方 bake-off · SLASH-17 · 2026-07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37376"/>
            <a:ext cx="6400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900" b="1">
                <a:solidFill>
                  <a:srgbClr val="667085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