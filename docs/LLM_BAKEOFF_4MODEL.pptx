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1">
                <a:solidFill>
                  <a:srgbClr val="9DC0FF"/>
                </a:solidFill>
                <a:latin typeface="Microsoft JhengHei"/>
              </a:rPr>
              <a:t>Builder Agent · LLM 選型 · 四方彙總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KIMI · GLM-5.2 · Sonnet 5 · Opus 4.8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CEDCF5"/>
                </a:solidFill>
                <a:latin typeface="Microsoft JhengHei"/>
              </a:rPr>
              <a:t>SLASH-17 端到端 bake-off — 每個模型各一頁完整結果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結論:</a:t>
            </a:r>
            <a:r>
              <a:rPr sz="1300" b="0">
                <a:solidFill>
                  <a:srgbClr val="CEDCF5"/>
                </a:solidFill>
                <a:latin typeface="Microsoft JhengHei"/>
              </a:rPr>
              <a:t>GLM-5.2 = cost-right 預設(品質接近頂級、成本最低、cache 唯一有效)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CEDCF5"/>
                </a:solidFill>
                <a:latin typeface="Microsoft JhengHei"/>
              </a:rPr>
              <a:t>Opus 4.8 品質天花板但 ~30× 成本 · Sonnet 5 被 GLM 支配 · KIMI 已淘汰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總表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四方一眼對照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338560" cy="534924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KIMI K2.5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GLM-5.2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Sonnet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Opus 4.8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52243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52243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嚴格通過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~14/17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~14/17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15/17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16/17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87168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487168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寬鬆(功能可用)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15/17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17/17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~17/17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~17/17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22091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022091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跑完全套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73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28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24.4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23.5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57015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557015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LLM 呼叫/round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164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091939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091939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Prompt cache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40–58%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0.9%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26864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26864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成本/17 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~$3–4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~$1–3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$18.7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$68.6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161788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161788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相對 GLM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~1.5×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6636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~9×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~30×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696712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696712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定位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8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淘汰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6636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預設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無角色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692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升級層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323075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Microsoft JhengHei"/>
              </a:rPr>
              <a:t>真正分高下只有 2 案:</a:t>
            </a:r>
            <a:r>
              <a:rPr sz="1250" b="0">
                <a:solidFill>
                  <a:srgbClr val="1F2933"/>
                </a:solidFill>
                <a:latin typeface="Microsoft JhengHei"/>
              </a:rPr>
              <a:t>xbar_r(只有 GLM+Opus 建對管制圖)、weco_rules(四家幾乎都漏 = 系統層弱點)。其餘 15 案四模型都對。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CALLS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KIMI K2.5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94A3B8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~14/17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15/17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73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呼叫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229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0%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~$3–4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B42318"/>
                </a:solidFill>
                <a:latin typeface="Microsoft JhengHei"/>
              </a:rPr>
              <a:t>已淘汰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最慢(73min)、cache 0%;2 案失敗(xbar_r/apc-drift)。2026-06-25 已被 GLM 取代。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247s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22c · 263s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8c · 200s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8c · 216s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13c · 236s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7c · 119s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11c · 324s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138s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125s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226s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15c · 403s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40c · 533s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20c · 217s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29c · 366s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18c · 448s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8c · 191s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110s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CALLS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GLM-5.2  （prod 預設）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ECFDF3"/>
          </a:solidFill>
          <a:ln w="12700">
            <a:solidFill>
              <a:srgbClr val="067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067647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~14/17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17/17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28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呼叫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163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40–58%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~$1–3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067647"/>
          </a:solidFill>
          <a:ln w="9525">
            <a:solidFill>
              <a:srgbClr val="067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prod 預設 [best]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寬鬆 17/17、xbar_r 建對、cache 唯一有效、成本最低。CP 值完勝,現行 prod。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47s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21c · 288s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218s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86s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10c · 51s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58s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16c · 142s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10c · 28s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40s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51s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14c · 127s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44s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55s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24c · 205s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15c · 120s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95s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42s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ROUNDS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Sonnet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1D4ED8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15/17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~17/17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24.4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round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229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0.9%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$18.7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FFFA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B54708"/>
                </a:solidFill>
                <a:latin typeface="Microsoft JhengHei"/>
              </a:rPr>
              <a:t>被 GLM 支配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嚴格 15/17(xbar_r 退化成折線)、成本 ~9× GLM。更貴又不更準,無採用理由。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5r · 33s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21r · 116s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36r · 306s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10r · 62s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66s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9r · 57s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14r · 115s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40s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15r · 102s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46s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11r · 104s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3r · 26s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36r · 24s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17r · 134s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69s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14r · 126s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39s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ROUNDS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Opus 4.8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F5F3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6D28D9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16/17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~17/17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23.5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round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164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0%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$68.6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F5F3FF"/>
          </a:solidFill>
          <a:ln w="9525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D28D9"/>
                </a:solidFill>
                <a:latin typeface="Microsoft JhengHei"/>
              </a:rPr>
              <a:t>品質天花板 · 升級層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嚴格 16/17 最高、最果斷(164 round),只漏 weco_rules。但 ~30× 成本、cache 失效。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135s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24r · 169s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10r · 101s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11r · 93s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115s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8r · 79s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50s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61s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52s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8r · 77s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8r · 78s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3r · 35s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39s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16r · 127s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71s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71s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58s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結論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定位與建議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1024128"/>
          </a:xfrm>
          <a:prstGeom prst="rect">
            <a:avLst/>
          </a:prstGeom>
          <a:solidFill>
            <a:srgbClr val="ECFDF3"/>
          </a:solidFill>
          <a:ln w="12700">
            <a:solidFill>
              <a:srgbClr val="067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067647"/>
                </a:solidFill>
                <a:latin typeface="Microsoft JhengHei"/>
              </a:rPr>
              <a:t>GLM-5.2 — prod 預設(不動)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嚴格品質與 Opus 僅差 1 案(xbar_r 也做對),成本最低、cache 唯一有效、速度最快 tier。CP 值完勝。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23744"/>
            <a:ext cx="11183112" cy="1024128"/>
          </a:xfrm>
          <a:prstGeom prst="rect">
            <a:avLst/>
          </a:prstGeom>
          <a:solidFill>
            <a:srgbClr val="F5F3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6D28D9"/>
                </a:solidFill>
                <a:latin typeface="Microsoft JhengHei"/>
              </a:rPr>
              <a:t>Opus 4.8 — 難題升級層(on-demand)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嚴格 16/17 最高,但 ~30× 成本且 cache 走 OpenRouter 失效。只在 fleet/composite/特定管制圖人工升級時叫用,且走 direct Anthropic 恢復 cache。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75887"/>
            <a:ext cx="11183112" cy="1024128"/>
          </a:xfrm>
          <a:prstGeom prst="rect">
            <a:avLst/>
          </a:prstGeom>
          <a:solidFill>
            <a:srgbClr val="FFFAEB"/>
          </a:solidFill>
          <a:ln w="12700">
            <a:solidFill>
              <a:srgbClr val="B547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85615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B54708"/>
                </a:solidFill>
                <a:latin typeface="Microsoft JhengHei"/>
              </a:rPr>
              <a:t>Sonnet 5 — 無角色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嚴格 15/17(xbar_r 退化),成本 ~9× GLM。比 GLM 貴又不更準。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28031"/>
            <a:ext cx="11183112" cy="1024128"/>
          </a:xfrm>
          <a:prstGeom prst="rect">
            <a:avLst/>
          </a:prstGeom>
          <a:solidFill>
            <a:srgbClr val="FEF3F2"/>
          </a:solidFill>
          <a:ln w="127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B42318"/>
                </a:solidFill>
                <a:latin typeface="Microsoft JhengHei"/>
              </a:rPr>
              <a:t>KIMI K2.5 — 已淘汰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最慢、cache 0%、品質不優於 GLM。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98463"/>
            <a:ext cx="11183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Microsoft JhengHei"/>
              </a:rPr>
              <a:t>共同待辦:</a:t>
            </a:r>
            <a:r>
              <a:rPr sz="1250" b="0">
                <a:solidFill>
                  <a:srgbClr val="1F2933"/>
                </a:solidFill>
                <a:latin typeface="Microsoft JhengHei"/>
              </a:rPr>
              <a:t>apc-drift 的 weco_rules 四模型皆弱 → 修 knowledge / block doc,換模型無效。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